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62E"/>
                </a:solidFill>
                <a:latin typeface="Calibri"/>
              </a:defRPr>
            </a:pPr>
            <a:r>
              <a:rPr sz="1300" b="0" i="0" u="none" strike="noStrike">
                <a:solidFill>
                  <a:srgbClr val="22262E"/>
                </a:solidFill>
                <a:latin typeface="Calibri"/>
              </a:rPr>
              <a:t>Répartition des 9 catégories (% du corpus)</a:t>
            </a:r>
          </a:p>
        </c:rich>
      </c:tx>
      <c:layout/>
      <c:overlay val="0"/>
    </c:title>
    <c:autoTitleDeleted val="0"/>
    <c:plotArea>
      <c:layout/>
      <c:barChart>
        <c:barDir val="bar"/>
        <c:grouping val="clustered"/>
        <c:varyColors val="0"/>
        <c:ser>
          <c:idx val="0"/>
          <c:order val="0"/>
          <c:tx>
            <c:strRef>
              <c:f>Sheet1!$B$1</c:f>
              <c:strCache>
                <c:ptCount val="1"/>
                <c:pt idx="0">
                  <c:v>Part du corpus</c:v>
                </c:pt>
              </c:strCache>
            </c:strRef>
          </c:tx>
          <c:spPr>
            <a:solidFill>
              <a:srgbClr val="1E2761"/>
            </a:solidFill>
            <a:effectLst/>
          </c:spPr>
          <c:invertIfNegative val="0"/>
          <c:dLbls>
            <c:numFmt formatCode="0.0&quot;%&quot;" sourceLinked="0"/>
            <c:txPr>
              <a:bodyPr/>
              <a:lstStyle/>
              <a:p>
                <a:pPr>
                  <a:defRPr b="0" i="0" strike="noStrike" sz="1000" u="none">
                    <a:solidFill>
                      <a:srgbClr val="22262E"/>
                    </a:solidFill>
                    <a:latin typeface="Arial"/>
                  </a:defRPr>
                </a:pPr>
              </a:p>
            </c:txPr>
            <c:showLegendKey val="0"/>
            <c:showVal val="1"/>
            <c:showCatName val="0"/>
            <c:showSerName val="0"/>
            <c:showPercent val="0"/>
            <c:showBubbleSize val="0"/>
            <c:showLeaderLines val="0"/>
          </c:dLbls>
          <c:cat>
            <c:multiLvlStrRef>
              <c:f>Sheet1!$A$2:$A$10</c:f>
              <c:multiLvlStrCache>
                <c:ptCount val="9"/>
                <c:lvl>
                  <c:pt idx="0">
                    <c:v>Vehicle loan or lease</c:v>
                  </c:pt>
                  <c:pt idx="1">
                    <c:v>Payday, title or personal loan</c:v>
                  </c:pt>
                  <c:pt idx="2">
                    <c:v>Money transfer or virtual currency</c:v>
                  </c:pt>
                  <c:pt idx="3">
                    <c:v>Student loan</c:v>
                  </c:pt>
                  <c:pt idx="4">
                    <c:v>Bank account or service</c:v>
                  </c:pt>
                  <c:pt idx="5">
                    <c:v>Credit card or prepaid card</c:v>
                  </c:pt>
                  <c:pt idx="6">
                    <c:v>Mortgage</c:v>
                  </c:pt>
                  <c:pt idx="7">
                    <c:v>Debt collection</c:v>
                  </c:pt>
                  <c:pt idx="8">
                    <c:v>Credit reporting</c:v>
                  </c:pt>
                </c:lvl>
              </c:multiLvlStrCache>
            </c:multiLvlStrRef>
          </c:cat>
          <c:val>
            <c:numRef>
              <c:f>Sheet1!$B$2:$B$10</c:f>
              <c:numCache>
                <c:formatCode>General</c:formatCode>
                <c:ptCount val="9"/>
                <c:pt idx="0">
                  <c:v>1.6</c:v>
                </c:pt>
                <c:pt idx="1">
                  <c:v>1.7</c:v>
                </c:pt>
                <c:pt idx="2">
                  <c:v>2</c:v>
                </c:pt>
                <c:pt idx="3">
                  <c:v>6.1</c:v>
                </c:pt>
                <c:pt idx="4">
                  <c:v>7.8</c:v>
                </c:pt>
                <c:pt idx="5">
                  <c:v>11.7</c:v>
                </c:pt>
                <c:pt idx="6">
                  <c:v>14.9</c:v>
                </c:pt>
                <c:pt idx="7">
                  <c:v>23.7</c:v>
                </c:pt>
                <c:pt idx="8">
                  <c:v>30.4</c:v>
                </c:pt>
              </c:numCache>
            </c:numRef>
          </c:val>
        </c:ser>
        <c:dLbls>
          <c:numFmt formatCode="0.0&quot;%&quot;" sourceLinked="0"/>
          <c:txPr>
            <a:bodyPr/>
            <a:lstStyle/>
            <a:p>
              <a:pPr>
                <a:defRPr b="0" i="0" strike="noStrike" sz="1000" u="none">
                  <a:solidFill>
                    <a:srgbClr val="2226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62E"/>
                </a:solidFill>
                <a:latin typeface="Arial"/>
              </a:defRPr>
            </a:pPr>
            <a:endParaRPr lang="en-US"/>
          </a:p>
        </c:txPr>
        <c:crossAx val="2094734552"/>
        <c:crosses val="autoZero"/>
        <c:auto val="1"/>
        <c:lblAlgn val="ctr"/>
        <c:noMultiLvlLbl val="1"/>
      </c:catAx>
      <c:valAx>
        <c:axId val="2094734552"/>
        <c:scaling>
          <c:orientation val="minMax"/>
          <c:max val="35"/>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62E"/>
                </a:solidFill>
                <a:latin typeface="Calibri"/>
              </a:defRPr>
            </a:pPr>
            <a:r>
              <a:rPr sz="1300" b="0" i="0" u="none" strike="noStrike">
                <a:solidFill>
                  <a:srgbClr val="22262E"/>
                </a:solidFill>
                <a:latin typeface="Calibri"/>
              </a:rPr>
              <a:t>F1-macro sur les mêmes 2 000 réclamations</a:t>
            </a:r>
          </a:p>
        </c:rich>
      </c:tx>
      <c:layout/>
      <c:overlay val="0"/>
    </c:title>
    <c:autoTitleDeleted val="0"/>
    <c:plotArea>
      <c:layout/>
      <c:barChart>
        <c:barDir val="bar"/>
        <c:grouping val="clustered"/>
        <c:varyColors val="0"/>
        <c:ser>
          <c:idx val="0"/>
          <c:order val="0"/>
          <c:tx>
            <c:strRef>
              <c:f>Sheet1!$B$1</c:f>
              <c:strCache>
                <c:ptCount val="1"/>
                <c:pt idx="0">
                  <c:v>F1-macro</c:v>
                </c:pt>
              </c:strCache>
            </c:strRef>
          </c:tx>
          <c:spPr>
            <a:solidFill>
              <a:srgbClr val="6B7280"/>
            </a:solidFill>
            <a:effectLst/>
          </c:spPr>
          <c:invertIfNegative val="0"/>
          <c:dLbls>
            <c:numFmt formatCode="0.000" sourceLinked="0"/>
            <c:txPr>
              <a:bodyPr/>
              <a:lstStyle/>
              <a:p>
                <a:pPr>
                  <a:defRPr b="0" i="0" strike="noStrike" sz="1100" u="none">
                    <a:solidFill>
                      <a:srgbClr val="22262E"/>
                    </a:solidFill>
                    <a:latin typeface="Arial"/>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F96167"/>
              </a:solidFill>
              <a:effectLst/>
            </c:spPr>
          </c:dPt>
          <c:dPt>
            <c:idx val="2"/>
            <c:invertIfNegative val="0"/>
            <c:bubble3D val="0"/>
            <c:spPr>
              <a:solidFill>
                <a:srgbClr val="5A6BA8"/>
              </a:solidFill>
              <a:effectLst/>
            </c:spPr>
          </c:dPt>
          <c:dPt>
            <c:idx val="3"/>
            <c:invertIfNegative val="0"/>
            <c:bubble3D val="0"/>
            <c:spPr>
              <a:solidFill>
                <a:srgbClr val="1E2761"/>
              </a:solidFill>
              <a:effectLst/>
            </c:spPr>
          </c:dPt>
          <c:cat>
            <c:multiLvlStrRef>
              <c:f>Sheet1!$A$2:$A$5</c:f>
              <c:multiLvlStrCache>
                <c:ptCount val="4"/>
                <c:lvl>
                  <c:pt idx="0">
                    <c:v>MultinomialNB</c:v>
                  </c:pt>
                  <c:pt idx="1">
                    <c:v>mistral-small (LLM)</c:v>
                  </c:pt>
                  <c:pt idx="2">
                    <c:v>LogisticRegression</c:v>
                  </c:pt>
                  <c:pt idx="3">
                    <c:v>LinearSVC</c:v>
                  </c:pt>
                </c:lvl>
              </c:multiLvlStrCache>
            </c:multiLvlStrRef>
          </c:cat>
          <c:val>
            <c:numRef>
              <c:f>Sheet1!$B$2:$B$5</c:f>
              <c:numCache>
                <c:formatCode>General</c:formatCode>
                <c:ptCount val="4"/>
                <c:pt idx="0">
                  <c:v>0.7233</c:v>
                </c:pt>
                <c:pt idx="1">
                  <c:v>0.7885</c:v>
                </c:pt>
                <c:pt idx="2">
                  <c:v>0.8136</c:v>
                </c:pt>
                <c:pt idx="3">
                  <c:v>0.8187</c:v>
                </c:pt>
              </c:numCache>
            </c:numRef>
          </c:val>
        </c:ser>
        <c:dLbls>
          <c:numFmt formatCode="0.000" sourceLinked="0"/>
          <c:txPr>
            <a:bodyPr/>
            <a:lstStyle/>
            <a:p>
              <a:pPr>
                <a:defRPr b="0" i="0" strike="noStrike" sz="1100" u="none">
                  <a:solidFill>
                    <a:srgbClr val="2226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62E"/>
                </a:solidFill>
                <a:latin typeface="Arial"/>
              </a:defRPr>
            </a:pPr>
            <a:endParaRPr lang="en-US"/>
          </a:p>
        </c:txPr>
        <c:crossAx val="2094734552"/>
        <c:crosses val="autoZero"/>
        <c:auto val="1"/>
        <c:lblAlgn val="ctr"/>
        <c:noMultiLvlLbl val="1"/>
      </c:catAx>
      <c:valAx>
        <c:axId val="2094734552"/>
        <c:scaling>
          <c:orientation val="minMax"/>
          <c:max val="0.88"/>
          <c:min val="0.6"/>
        </c:scaling>
        <c:delete val="0"/>
        <c:axPos val="b"/>
        <c:majorGridlines>
          <c:spPr>
            <a:ln w="1270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2262E"/>
                </a:solidFill>
                <a:latin typeface="Calibri"/>
              </a:defRPr>
            </a:pPr>
            <a:r>
              <a:rPr sz="1300" b="0" i="0" u="none" strike="noStrike">
                <a:solidFill>
                  <a:srgbClr val="22262E"/>
                </a:solidFill>
                <a:latin typeface="Calibri"/>
              </a:rPr>
              <a:t>Part des réponses exploitables (%)</a:t>
            </a:r>
          </a:p>
        </c:rich>
      </c:tx>
      <c:layout/>
      <c:overlay val="0"/>
    </c:title>
    <c:autoTitleDeleted val="0"/>
    <c:plotArea>
      <c:layout/>
      <c:barChart>
        <c:barDir val="col"/>
        <c:grouping val="clustered"/>
        <c:varyColors val="0"/>
        <c:ser>
          <c:idx val="0"/>
          <c:order val="0"/>
          <c:tx>
            <c:strRef>
              <c:f>Sheet1!$B$1</c:f>
              <c:strCache>
                <c:ptCount val="1"/>
                <c:pt idx="0">
                  <c:v>Conformité du format</c:v>
                </c:pt>
              </c:strCache>
            </c:strRef>
          </c:tx>
          <c:spPr>
            <a:solidFill>
              <a:srgbClr val="1E2761"/>
            </a:solidFill>
            <a:effectLst/>
          </c:spPr>
          <c:invertIfNegative val="0"/>
          <c:dLbls>
            <c:numFmt formatCode="0.0&quot;%&quot;" sourceLinked="0"/>
            <c:txPr>
              <a:bodyPr/>
              <a:lstStyle/>
              <a:p>
                <a:pPr>
                  <a:defRPr b="0" i="0" strike="noStrike" sz="1200" u="none">
                    <a:solidFill>
                      <a:srgbClr val="22262E"/>
                    </a:solidFill>
                    <a:latin typeface="Arial"/>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F96167"/>
              </a:solidFill>
              <a:effectLst/>
            </c:spPr>
          </c:dPt>
          <c:cat>
            <c:multiLvlStrRef>
              <c:f>Sheet1!$A$2:$A$3</c:f>
              <c:multiLvlStrCache>
                <c:ptCount val="2"/>
                <c:lvl>
                  <c:pt idx="0">
                    <c:v>Consigne d'origine</c:v>
                  </c:pt>
                  <c:pt idx="1">
                    <c:v>Consigne + définitions</c:v>
                  </c:pt>
                </c:lvl>
              </c:multiLvlStrCache>
            </c:multiLvlStrRef>
          </c:cat>
          <c:val>
            <c:numRef>
              <c:f>Sheet1!$B$2:$B$3</c:f>
              <c:numCache>
                <c:formatCode>General</c:formatCode>
                <c:ptCount val="2"/>
                <c:pt idx="0">
                  <c:v>99.5</c:v>
                </c:pt>
                <c:pt idx="1">
                  <c:v>75.5</c:v>
                </c:pt>
              </c:numCache>
            </c:numRef>
          </c:val>
        </c:ser>
        <c:dLbls>
          <c:numFmt formatCode="0.0&quot;%&quot;" sourceLinked="0"/>
          <c:txPr>
            <a:bodyPr/>
            <a:lstStyle/>
            <a:p>
              <a:pPr>
                <a:defRPr b="0" i="0" strike="noStrike" sz="1200" u="none">
                  <a:solidFill>
                    <a:srgbClr val="2226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62E"/>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2262E"/>
                </a:solidFill>
                <a:latin typeface="Calibri"/>
              </a:defRPr>
            </a:pPr>
            <a:r>
              <a:rPr sz="1200" b="0" i="0" u="none" strike="noStrike">
                <a:solidFill>
                  <a:srgbClr val="22262E"/>
                </a:solidFill>
                <a:latin typeface="Calibri"/>
              </a:rPr>
              <a:t>Dépense annuelle du LLM, en dollars</a:t>
            </a:r>
          </a:p>
        </c:rich>
      </c:tx>
      <c:layout/>
      <c:overlay val="0"/>
    </c:title>
    <c:autoTitleDeleted val="0"/>
    <c:plotArea>
      <c:layout/>
      <c:barChart>
        <c:barDir val="col"/>
        <c:grouping val="clustered"/>
        <c:varyColors val="0"/>
        <c:ser>
          <c:idx val="0"/>
          <c:order val="0"/>
          <c:tx>
            <c:strRef>
              <c:f>Sheet1!$B$1</c:f>
              <c:strCache>
                <c:ptCount val="1"/>
                <c:pt idx="0">
                  <c:v>LLM</c:v>
                </c:pt>
              </c:strCache>
            </c:strRef>
          </c:tx>
          <c:spPr>
            <a:solidFill>
              <a:srgbClr val="F96167"/>
            </a:solidFill>
            <a:effectLst/>
          </c:spPr>
          <c:invertIfNegative val="0"/>
          <c:dLbls>
            <c:numFmt formatCode="#,##0" sourceLinked="0"/>
            <c:txPr>
              <a:bodyPr/>
              <a:lstStyle/>
              <a:p>
                <a:pPr>
                  <a:defRPr b="0" i="0" strike="noStrike" sz="1100" u="none">
                    <a:solidFill>
                      <a:srgbClr val="22262E"/>
                    </a:solidFill>
                    <a:latin typeface="Arial"/>
                  </a:defRPr>
                </a:pPr>
              </a:p>
            </c:txPr>
            <c:showLegendKey val="0"/>
            <c:showVal val="1"/>
            <c:showCatName val="0"/>
            <c:showSerName val="0"/>
            <c:showPercent val="0"/>
            <c:showBubbleSize val="0"/>
            <c:showLeaderLines val="0"/>
          </c:dLbls>
          <c:cat>
            <c:multiLvlStrRef>
              <c:f>Sheet1!$A$2:$A$3</c:f>
              <c:multiLvlStrCache>
                <c:ptCount val="2"/>
                <c:lvl>
                  <c:pt idx="0">
                    <c:v>Pilote
1 000 récl./jour</c:v>
                  </c:pt>
                  <c:pt idx="1">
                    <c:v>Global
≈ 40 000 récl./jour</c:v>
                  </c:pt>
                </c:lvl>
              </c:multiLvlStrCache>
            </c:multiLvlStrRef>
          </c:cat>
          <c:val>
            <c:numRef>
              <c:f>Sheet1!$B$2:$B$3</c:f>
              <c:numCache>
                <c:formatCode>General</c:formatCode>
                <c:ptCount val="2"/>
                <c:pt idx="0">
                  <c:v>18.8</c:v>
                </c:pt>
                <c:pt idx="1">
                  <c:v>753</c:v>
                </c:pt>
              </c:numCache>
            </c:numRef>
          </c:val>
        </c:ser>
        <c:dLbls>
          <c:numFmt formatCode="#,##0" sourceLinked="0"/>
          <c:txPr>
            <a:bodyPr/>
            <a:lstStyle/>
            <a:p>
              <a:pPr>
                <a:defRPr b="0" i="0" strike="noStrike" sz="1100" u="none">
                  <a:solidFill>
                    <a:srgbClr val="22262E"/>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62E"/>
                </a:solidFill>
                <a:latin typeface="Arial"/>
              </a:defRPr>
            </a:pPr>
            <a:endParaRPr lang="en-US"/>
          </a:p>
        </c:txPr>
        <c:crossAx val="2094734552"/>
        <c:crosses val="autoZero"/>
        <c:auto val="1"/>
        <c:lblAlgn val="ctr"/>
        <c:noMultiLvlLbl val="1"/>
      </c:catAx>
      <c:valAx>
        <c:axId val="2094734552"/>
        <c:scaling>
          <c:orientation val="minMax"/>
          <c:max val="850"/>
          <c:min val="0"/>
        </c:scaling>
        <c:delete val="0"/>
        <c:axPos val="l"/>
        <c:majorGridlines>
          <c:spPr>
            <a:ln w="1270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présentation : trancher entre une approche LLM et une approche machine learning classique pour l'étiquetage automatique des réclamations, sur la base de mesures et non d'impressions.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déploiement en deux temps est important : ce qui coûte peu en pilote peut devenir un poste de dépense en déploiement global. C'est un facteur 40 entre les deux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déséquilibre de 19 pour 1 explique le choix de la métrique : l'exactitude globale récompenserait un modèle qui ignore les catégories rares. Les 26 % hors périmètre sont une propriété des données, pas un défaut corrigeable.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méthode : les métriques et les seuils ont été fixés avant de voir les résultats, pour éviter de choisir après coup la mesure qui arrange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minimum garanti par catégorie permet de mesurer les catégories rares ; la repondération évite que ce choix ne fausse les résultats d'ensemble.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Décompte exact si la question vient : huit formulations au total, v1 à v8. Phase 3 — v1 en référence et cinq modifications indépendantes (v2 à v6) sur 200 réclamations. Extension — v7 et v8 ajoutées, campagne portée à 1 835 réclamations parce que 200 n'avaient pas la puissance de détecter un gain de 2 points. Résultat inchangé : v1 reste la consigne retenue, et v7 a même été rejetée en faveur de v1. Le point révélateur n'est pas le score mais le fait qu'aucune reformulation n'ait produit d'amélioration démontrable : on ne sait pas piloter la qualité par la consigne.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Honnêteté du résultat : le LLM reste devant sur Vehicle loan or lease (0,685 contre 0,619), la catégorie la plus rare (0,34 % des données d'apprentissage). C'est la seule.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grandeurs à ne pas confondre. Côté LLM : 470 ms pour le modèle seul, 1,0 s réellement perçu une fois les attentes comprises. Côté ML : 0,93 ms mesurés sur l'API en service, requête HTTP comprise — et non 0,23 ms, qui est la prédiction seule mesurée en boucle. Le facteur 500 annoncé retient la comparaison la plus défavorable au machine learning ; si on compare les deux temps perçus, il dépasse 1 000.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n'est pas un argument théorique sur la fragilité des prompts : c'est un incident réellement survenu pendant l'exploration, avec son mécanisme identifié. C'est l'argument le plus important de la présentation. Il s'agit de la variante v3 du tableau de phase 3, la seule des sept à avoir été rejetée — et elle l'a été EN FAVEUR de la consigne d'origine : b=40, c=3, p &lt; 10⁻⁵ sous correction de Holm. Chute de conformité et rejet statistique sont le même événement, mesuré de deux façons.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jours-homme sont des estimations reconstituées à partir de l'historique du projet, pas un relevé de temps. Le volume global suppose 200 clients à 200 réclamations par jour.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Différence de nature entre les deux colonnes de droite : côté LLM, la maintenance subit des changements extérieurs ; côté ML, elle est planifiée et déclenchée par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critères favorables au LLM sont réels et assumés : la catégorie la plus rare, et l'absence d'entraînement. Aucun des deux ne pèse autant que la fiabilité d'exploitation.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Mentionner la réserve volontairement : elle montre que la recommandation tient compte de ce qui la contredit. Proposition de suite : pilote sur 5 clients avec suivi de la catégorie Vehicle loan or 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2A3575"/>
          </a:solidFill>
          <a:ln w="12700">
            <a:solidFill>
              <a:srgbClr val="2A3575"/>
            </a:solidFill>
            <a:prstDash val="solid"/>
          </a:ln>
        </p:spPr>
      </p:sp>
      <p:sp>
        <p:nvSpPr>
          <p:cNvPr id="3" name="Shape 1"/>
          <p:cNvSpPr/>
          <p:nvPr/>
        </p:nvSpPr>
        <p:spPr>
          <a:xfrm>
            <a:off x="10881360" y="4663440"/>
            <a:ext cx="2926080" cy="2926080"/>
          </a:xfrm>
          <a:prstGeom prst="ellipse">
            <a:avLst/>
          </a:prstGeom>
          <a:solidFill>
            <a:srgbClr val="2A3575"/>
          </a:solidFill>
          <a:ln w="12700">
            <a:solidFill>
              <a:srgbClr val="2A3575"/>
            </a:solidFill>
            <a:prstDash val="solid"/>
          </a:ln>
        </p:spPr>
      </p:sp>
      <p:sp>
        <p:nvSpPr>
          <p:cNvPr id="4" name="Text 2"/>
          <p:cNvSpPr txBox="1"/>
          <p:nvPr/>
        </p:nvSpPr>
        <p:spPr>
          <a:xfrm>
            <a:off x="731520" y="1920240"/>
            <a:ext cx="877824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Étiquetage automatique des réclamations</a:t>
            </a:r>
            <a:endParaRPr lang="en-US" sz="4000" dirty="0"/>
          </a:p>
        </p:txBody>
      </p:sp>
      <p:sp>
        <p:nvSpPr>
          <p:cNvPr id="5" name="Text 3"/>
          <p:cNvSpPr txBox="1"/>
          <p:nvPr/>
        </p:nvSpPr>
        <p:spPr>
          <a:xfrm>
            <a:off x="731520" y="3291840"/>
            <a:ext cx="8778240" cy="82296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LLM ou machine learning ? Résultats de la phase d'exploration et recommandation</a:t>
            </a:r>
            <a:endParaRPr lang="en-US" sz="1800" dirty="0"/>
          </a:p>
        </p:txBody>
      </p:sp>
      <p:sp>
        <p:nvSpPr>
          <p:cNvPr id="6" name="Shape 4"/>
          <p:cNvSpPr/>
          <p:nvPr/>
        </p:nvSpPr>
        <p:spPr>
          <a:xfrm>
            <a:off x="731520" y="4480560"/>
            <a:ext cx="3200400" cy="502920"/>
          </a:xfrm>
          <a:prstGeom prst="roundRect">
            <a:avLst>
              <a:gd name="adj" fmla="val 18182"/>
            </a:avLst>
          </a:prstGeom>
          <a:solidFill>
            <a:srgbClr val="F96167"/>
          </a:solidFill>
          <a:ln w="12700">
            <a:solidFill>
              <a:srgbClr val="F96167"/>
            </a:solidFill>
            <a:prstDash val="solid"/>
          </a:ln>
        </p:spPr>
      </p:sp>
      <p:sp>
        <p:nvSpPr>
          <p:cNvPr id="7" name="Text 5"/>
          <p:cNvSpPr txBox="1"/>
          <p:nvPr/>
        </p:nvSpPr>
        <p:spPr>
          <a:xfrm>
            <a:off x="731520" y="4480560"/>
            <a:ext cx="320040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Recommandation : LinearSVC</a:t>
            </a:r>
            <a:endParaRPr lang="en-US" sz="1300" dirty="0"/>
          </a:p>
        </p:txBody>
      </p:sp>
      <p:sp>
        <p:nvSpPr>
          <p:cNvPr id="8" name="Text 6"/>
          <p:cNvSpPr txBox="1"/>
          <p:nvPr/>
        </p:nvSpPr>
        <p:spPr>
          <a:xfrm>
            <a:off x="731520" y="5303520"/>
            <a:ext cx="8778240" cy="365760"/>
          </a:xfrm>
          <a:prstGeom prst="rect">
            <a:avLst/>
          </a:prstGeom>
          <a:noFill/>
          <a:ln/>
        </p:spPr>
        <p:txBody>
          <a:bodyPr wrap="square" lIns="0" tIns="0" rIns="0" bIns="0" rtlCol="0" anchor="ctr"/>
          <a:lstStyle/>
          <a:p>
            <a:pPr indent="0" marL="0">
              <a:buNone/>
            </a:pPr>
            <a:r>
              <a:rPr lang="en-US" sz="1200" dirty="0">
                <a:solidFill>
                  <a:srgbClr val="8D99C4"/>
                </a:solidFill>
                <a:latin typeface="Calibri" pitchFamily="34" charset="0"/>
                <a:ea typeface="Calibri" pitchFamily="34" charset="-122"/>
                <a:cs typeface="Calibri" pitchFamily="34" charset="-120"/>
              </a:rPr>
              <a:t>Phase d'exploration IA — septembre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Le problème à résoudre</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Router chaque réclamation vers le bon service, sans tri manuel</a:t>
            </a:r>
            <a:endParaRPr lang="en-US" sz="1500" dirty="0"/>
          </a:p>
        </p:txBody>
      </p:sp>
      <p:sp>
        <p:nvSpPr>
          <p:cNvPr id="4" name="Shape 2"/>
          <p:cNvSpPr/>
          <p:nvPr/>
        </p:nvSpPr>
        <p:spPr>
          <a:xfrm>
            <a:off x="548640" y="1828800"/>
            <a:ext cx="3520440" cy="1828800"/>
          </a:xfrm>
          <a:prstGeom prst="roundRect">
            <a:avLst>
              <a:gd name="adj" fmla="val 6000"/>
            </a:avLst>
          </a:prstGeom>
          <a:solidFill>
            <a:srgbClr val="F4F6FB"/>
          </a:solidFill>
          <a:ln w="12700">
            <a:solidFill>
              <a:srgbClr val="F4F6FB"/>
            </a:solidFill>
            <a:prstDash val="solid"/>
          </a:ln>
        </p:spPr>
      </p:sp>
      <p:sp>
        <p:nvSpPr>
          <p:cNvPr id="5" name="Text 3"/>
          <p:cNvSpPr txBox="1"/>
          <p:nvPr/>
        </p:nvSpPr>
        <p:spPr>
          <a:xfrm>
            <a:off x="868680" y="2011680"/>
            <a:ext cx="2926080" cy="73152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200</a:t>
            </a:r>
            <a:endParaRPr lang="en-US" sz="4000" dirty="0"/>
          </a:p>
        </p:txBody>
      </p:sp>
      <p:sp>
        <p:nvSpPr>
          <p:cNvPr id="6" name="Text 4"/>
          <p:cNvSpPr txBox="1"/>
          <p:nvPr/>
        </p:nvSpPr>
        <p:spPr>
          <a:xfrm>
            <a:off x="868680" y="2743200"/>
            <a:ext cx="2926080" cy="73152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réclamations par client et par jour, triées à la main aujourd'hui</a:t>
            </a:r>
            <a:endParaRPr lang="en-US" sz="1300" dirty="0"/>
          </a:p>
        </p:txBody>
      </p:sp>
      <p:sp>
        <p:nvSpPr>
          <p:cNvPr id="7" name="Shape 5"/>
          <p:cNvSpPr/>
          <p:nvPr/>
        </p:nvSpPr>
        <p:spPr>
          <a:xfrm>
            <a:off x="4315968" y="1828800"/>
            <a:ext cx="3520440" cy="1828800"/>
          </a:xfrm>
          <a:prstGeom prst="roundRect">
            <a:avLst>
              <a:gd name="adj" fmla="val 6000"/>
            </a:avLst>
          </a:prstGeom>
          <a:solidFill>
            <a:srgbClr val="F4F6FB"/>
          </a:solidFill>
          <a:ln w="12700">
            <a:solidFill>
              <a:srgbClr val="F4F6FB"/>
            </a:solidFill>
            <a:prstDash val="solid"/>
          </a:ln>
        </p:spPr>
      </p:sp>
      <p:sp>
        <p:nvSpPr>
          <p:cNvPr id="8" name="Text 6"/>
          <p:cNvSpPr txBox="1"/>
          <p:nvPr/>
        </p:nvSpPr>
        <p:spPr>
          <a:xfrm>
            <a:off x="4636008" y="2011680"/>
            <a:ext cx="2926080" cy="73152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9</a:t>
            </a:r>
            <a:endParaRPr lang="en-US" sz="4000" dirty="0"/>
          </a:p>
        </p:txBody>
      </p:sp>
      <p:sp>
        <p:nvSpPr>
          <p:cNvPr id="9" name="Text 7"/>
          <p:cNvSpPr txBox="1"/>
          <p:nvPr/>
        </p:nvSpPr>
        <p:spPr>
          <a:xfrm>
            <a:off x="4636008" y="2743200"/>
            <a:ext cx="2926080" cy="73152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catégories de produit possibles pour chaque réclamation</a:t>
            </a:r>
            <a:endParaRPr lang="en-US" sz="1300" dirty="0"/>
          </a:p>
        </p:txBody>
      </p:sp>
      <p:sp>
        <p:nvSpPr>
          <p:cNvPr id="10" name="Shape 8"/>
          <p:cNvSpPr/>
          <p:nvPr/>
        </p:nvSpPr>
        <p:spPr>
          <a:xfrm>
            <a:off x="8083296" y="1828800"/>
            <a:ext cx="3520440" cy="1828800"/>
          </a:xfrm>
          <a:prstGeom prst="roundRect">
            <a:avLst>
              <a:gd name="adj" fmla="val 6000"/>
            </a:avLst>
          </a:prstGeom>
          <a:solidFill>
            <a:srgbClr val="F4F6FB"/>
          </a:solidFill>
          <a:ln w="12700">
            <a:solidFill>
              <a:srgbClr val="F4F6FB"/>
            </a:solidFill>
            <a:prstDash val="solid"/>
          </a:ln>
        </p:spPr>
      </p:sp>
      <p:sp>
        <p:nvSpPr>
          <p:cNvPr id="11" name="Text 9"/>
          <p:cNvSpPr txBox="1"/>
          <p:nvPr/>
        </p:nvSpPr>
        <p:spPr>
          <a:xfrm>
            <a:off x="8403336" y="2011680"/>
            <a:ext cx="2926080" cy="731520"/>
          </a:xfrm>
          <a:prstGeom prst="rect">
            <a:avLst/>
          </a:prstGeom>
          <a:noFill/>
          <a:ln/>
        </p:spPr>
        <p:txBody>
          <a:bodyPr wrap="square" lIns="0" tIns="0" rIns="0" bIns="0" rtlCol="0" anchor="ctr"/>
          <a:lstStyle/>
          <a:p>
            <a:pPr indent="0" marL="0">
              <a:buNone/>
            </a:pPr>
            <a:r>
              <a:rPr lang="en-US" sz="4000" b="1" dirty="0">
                <a:solidFill>
                  <a:srgbClr val="F96167"/>
                </a:solidFill>
                <a:latin typeface="Cambria" pitchFamily="34" charset="0"/>
                <a:ea typeface="Cambria" pitchFamily="34" charset="-122"/>
                <a:cs typeface="Cambria" pitchFamily="34" charset="-120"/>
              </a:rPr>
              <a:t>0</a:t>
            </a:r>
            <a:endParaRPr lang="en-US" sz="4000" dirty="0"/>
          </a:p>
        </p:txBody>
      </p:sp>
      <p:sp>
        <p:nvSpPr>
          <p:cNvPr id="12" name="Text 10"/>
          <p:cNvSpPr txBox="1"/>
          <p:nvPr/>
        </p:nvSpPr>
        <p:spPr>
          <a:xfrm>
            <a:off x="8403336" y="2743200"/>
            <a:ext cx="2926080" cy="82296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compétence IA en interne : la solution doit rester exploitable sans expert</a:t>
            </a:r>
            <a:endParaRPr lang="en-US" sz="1300" dirty="0"/>
          </a:p>
        </p:txBody>
      </p:sp>
      <p:sp>
        <p:nvSpPr>
          <p:cNvPr id="13" name="Text 11"/>
          <p:cNvSpPr txBox="1"/>
          <p:nvPr/>
        </p:nvSpPr>
        <p:spPr>
          <a:xfrm>
            <a:off x="548640" y="4114800"/>
            <a:ext cx="11064240" cy="36576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La question posée</a:t>
            </a:r>
            <a:endParaRPr lang="en-US" sz="2000" dirty="0"/>
          </a:p>
        </p:txBody>
      </p:sp>
      <p:sp>
        <p:nvSpPr>
          <p:cNvPr id="14" name="Text 12"/>
          <p:cNvSpPr txBox="1"/>
          <p:nvPr/>
        </p:nvSpPr>
        <p:spPr>
          <a:xfrm>
            <a:off x="548640" y="4572000"/>
            <a:ext cx="110642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2262E"/>
                </a:solidFill>
                <a:latin typeface="Calibri" pitchFamily="34" charset="0"/>
                <a:ea typeface="Calibri" pitchFamily="34" charset="-122"/>
                <a:cs typeface="Calibri" pitchFamily="34" charset="-120"/>
              </a:rPr>
              <a:t>Deux approches comparées sur les mêmes données, avec les mêmes métriques : un LLM (Mistral) et des algorithmes de machine learning classiques.</a:t>
            </a:r>
            <a:endParaRPr lang="en-US" sz="1400" dirty="0"/>
          </a:p>
          <a:p>
            <a:pPr marL="342900" indent="-342900">
              <a:spcAft>
                <a:spcPts val="800"/>
              </a:spcAft>
              <a:buSzPct val="100000"/>
              <a:buChar char="•"/>
            </a:pPr>
            <a:r>
              <a:rPr lang="en-US" sz="1400" dirty="0">
                <a:solidFill>
                  <a:srgbClr val="22262E"/>
                </a:solidFill>
                <a:latin typeface="Calibri" pitchFamily="34" charset="0"/>
                <a:ea typeface="Calibri" pitchFamily="34" charset="-122"/>
                <a:cs typeface="Calibri" pitchFamily="34" charset="-120"/>
              </a:rPr>
              <a:t>Déploiement prévu en deux temps : pilote sur 5 clients (≈ 1 000 réclamations/jour), puis déploiement global (200+ clients, ≈ 40 000/jour).</a:t>
            </a:r>
            <a:endParaRPr lang="en-US" sz="1400" dirty="0"/>
          </a:p>
          <a:p>
            <a:pPr marL="342900" indent="-342900">
              <a:spcAft>
                <a:spcPts val="800"/>
              </a:spcAft>
              <a:buSzPct val="100000"/>
              <a:buChar char="•"/>
            </a:pPr>
            <a:r>
              <a:rPr lang="en-US" sz="1400" dirty="0">
                <a:solidFill>
                  <a:srgbClr val="22262E"/>
                </a:solidFill>
                <a:latin typeface="Calibri" pitchFamily="34" charset="0"/>
                <a:ea typeface="Calibri" pitchFamily="34" charset="-122"/>
                <a:cs typeface="Calibri" pitchFamily="34" charset="-120"/>
              </a:rPr>
              <a:t>Critères de décision : qualité de classification, temps de réponse, coût, et charge d'exploitation pour une équipe sans compétence IA.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Le jeu de données</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Réclamations de consommateurs américains (CFPB), en anglais</a:t>
            </a:r>
            <a:endParaRPr lang="en-US" sz="1500" dirty="0"/>
          </a:p>
        </p:txBody>
      </p:sp>
      <p:graphicFrame>
        <p:nvGraphicFramePr>
          <p:cNvPr id="4" name="Chart 0" descr=""/>
          <p:cNvGraphicFramePr/>
          <p:nvPr/>
        </p:nvGraphicFramePr>
        <p:xfrm>
          <a:off x="548640" y="1828800"/>
          <a:ext cx="66751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828800"/>
            <a:ext cx="4114800" cy="1783080"/>
          </a:xfrm>
          <a:prstGeom prst="roundRect">
            <a:avLst>
              <a:gd name="adj" fmla="val 6154"/>
            </a:avLst>
          </a:prstGeom>
          <a:solidFill>
            <a:srgbClr val="F4F6FB"/>
          </a:solidFill>
          <a:ln w="12700">
            <a:solidFill>
              <a:srgbClr val="F4F6FB"/>
            </a:solidFill>
            <a:prstDash val="solid"/>
          </a:ln>
        </p:spPr>
      </p:sp>
      <p:sp>
        <p:nvSpPr>
          <p:cNvPr id="6" name="Text 3"/>
          <p:cNvSpPr txBox="1"/>
          <p:nvPr/>
        </p:nvSpPr>
        <p:spPr>
          <a:xfrm>
            <a:off x="7772400" y="2011680"/>
            <a:ext cx="356616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Le corpus exploitable</a:t>
            </a:r>
            <a:endParaRPr lang="en-US" sz="1500" dirty="0"/>
          </a:p>
        </p:txBody>
      </p:sp>
      <p:sp>
        <p:nvSpPr>
          <p:cNvPr id="7" name="Text 4"/>
          <p:cNvSpPr txBox="1"/>
          <p:nvPr/>
        </p:nvSpPr>
        <p:spPr>
          <a:xfrm>
            <a:off x="7772400" y="2395728"/>
            <a:ext cx="3566160" cy="11887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1 282 355 réclamations au départ</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354 312 exploitables après nettoyage</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16 libellés fusionnés en 9 catégories (changement de nomenclature CFPB en 2017)</a:t>
            </a:r>
            <a:endParaRPr lang="en-US" sz="1200" dirty="0"/>
          </a:p>
        </p:txBody>
      </p:sp>
      <p:sp>
        <p:nvSpPr>
          <p:cNvPr id="8" name="Shape 5"/>
          <p:cNvSpPr/>
          <p:nvPr/>
        </p:nvSpPr>
        <p:spPr>
          <a:xfrm>
            <a:off x="7498080" y="3977640"/>
            <a:ext cx="4114800" cy="2057400"/>
          </a:xfrm>
          <a:prstGeom prst="roundRect">
            <a:avLst>
              <a:gd name="adj" fmla="val 5333"/>
            </a:avLst>
          </a:prstGeom>
          <a:solidFill>
            <a:srgbClr val="FDEEEF"/>
          </a:solidFill>
          <a:ln w="12700">
            <a:solidFill>
              <a:srgbClr val="FDEEEF"/>
            </a:solidFill>
            <a:prstDash val="solid"/>
          </a:ln>
        </p:spPr>
      </p:sp>
      <p:sp>
        <p:nvSpPr>
          <p:cNvPr id="9" name="Text 6"/>
          <p:cNvSpPr txBox="1"/>
          <p:nvPr/>
        </p:nvSpPr>
        <p:spPr>
          <a:xfrm>
            <a:off x="7772400" y="4133088"/>
            <a:ext cx="3566160" cy="320040"/>
          </a:xfrm>
          <a:prstGeom prst="rect">
            <a:avLst/>
          </a:prstGeom>
          <a:noFill/>
          <a:ln/>
        </p:spPr>
        <p:txBody>
          <a:bodyPr wrap="square" lIns="0" tIns="0" rIns="0" bIns="0" rtlCol="0" anchor="ctr"/>
          <a:lstStyle/>
          <a:p>
            <a:pPr indent="0" marL="0">
              <a:buNone/>
            </a:pPr>
            <a:r>
              <a:rPr lang="en-US" sz="1500" b="1" dirty="0">
                <a:solidFill>
                  <a:srgbClr val="F96167"/>
                </a:solidFill>
                <a:latin typeface="Cambria" pitchFamily="34" charset="0"/>
                <a:ea typeface="Cambria" pitchFamily="34" charset="-122"/>
                <a:cs typeface="Cambria" pitchFamily="34" charset="-120"/>
              </a:rPr>
              <a:t>Deux limites à connaître</a:t>
            </a:r>
            <a:endParaRPr lang="en-US" sz="1500" dirty="0"/>
          </a:p>
        </p:txBody>
      </p:sp>
      <p:sp>
        <p:nvSpPr>
          <p:cNvPr id="10" name="Text 7"/>
          <p:cNvSpPr txBox="1"/>
          <p:nvPr/>
        </p:nvSpPr>
        <p:spPr>
          <a:xfrm>
            <a:off x="7772400" y="4517136"/>
            <a:ext cx="3566160" cy="141732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26 % du flux réel est hors périmètre : 5 canaux de dépôt sur 6 (téléphone, courrier, fax…) ne produisent jamais de texte. Aucun modèle ne peut les classer.</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Déséquilibre marqué : la catégorie la plus fréquente est 19 fois plus représentée que la plus rare.</a:t>
            </a:r>
            <a:endParaRPr lang="en-US" sz="1200" dirty="0"/>
          </a:p>
        </p:txBody>
      </p:sp>
      <p:sp>
        <p:nvSpPr>
          <p:cNvPr id="11" name="Text 8"/>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Sources : reports/diagnostic.md, reports/limites.md §1, data/processed/split_metadata.json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Comment les deux approches sont notées</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Des métriques choisies avant les mesures, et identiques pour les deux approches</a:t>
            </a:r>
            <a:endParaRPr lang="en-US" sz="1500" dirty="0"/>
          </a:p>
        </p:txBody>
      </p:sp>
      <p:sp>
        <p:nvSpPr>
          <p:cNvPr id="4" name="Shape 2"/>
          <p:cNvSpPr/>
          <p:nvPr/>
        </p:nvSpPr>
        <p:spPr>
          <a:xfrm>
            <a:off x="548640" y="1828800"/>
            <a:ext cx="11064240" cy="960120"/>
          </a:xfrm>
          <a:prstGeom prst="roundRect">
            <a:avLst>
              <a:gd name="adj" fmla="val 11429"/>
            </a:avLst>
          </a:prstGeom>
          <a:solidFill>
            <a:srgbClr val="F4F6FB"/>
          </a:solidFill>
          <a:ln w="12700">
            <a:solidFill>
              <a:srgbClr val="F4F6FB"/>
            </a:solidFill>
            <a:prstDash val="solid"/>
          </a:ln>
        </p:spPr>
      </p:sp>
      <p:sp>
        <p:nvSpPr>
          <p:cNvPr id="5" name="Shape 3"/>
          <p:cNvSpPr/>
          <p:nvPr/>
        </p:nvSpPr>
        <p:spPr>
          <a:xfrm>
            <a:off x="777240" y="2153412"/>
            <a:ext cx="310896" cy="310896"/>
          </a:xfrm>
          <a:prstGeom prst="ellipse">
            <a:avLst/>
          </a:prstGeom>
          <a:solidFill>
            <a:srgbClr val="1E2761"/>
          </a:solidFill>
          <a:ln w="12700">
            <a:solidFill>
              <a:srgbClr val="1E2761"/>
            </a:solidFill>
            <a:prstDash val="solid"/>
          </a:ln>
        </p:spPr>
      </p:sp>
      <p:sp>
        <p:nvSpPr>
          <p:cNvPr id="6" name="Text 4"/>
          <p:cNvSpPr txBox="1"/>
          <p:nvPr/>
        </p:nvSpPr>
        <p:spPr>
          <a:xfrm>
            <a:off x="777240" y="21534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61872" y="1920240"/>
            <a:ext cx="2743200" cy="7772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F1-macro</a:t>
            </a:r>
            <a:endParaRPr lang="en-US" sz="1400" dirty="0"/>
          </a:p>
        </p:txBody>
      </p:sp>
      <p:sp>
        <p:nvSpPr>
          <p:cNvPr id="8" name="Text 6"/>
          <p:cNvSpPr txBox="1"/>
          <p:nvPr/>
        </p:nvSpPr>
        <p:spPr>
          <a:xfrm>
            <a:off x="4114800" y="1920240"/>
            <a:ext cx="7315200" cy="77724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Métrique principale. Elle donne le même poids aux 9 catégories, quelle que soit leur fréquence. L'exactitude globale aurait été trompeuse : un modèle ignorant les catégories rares aurait obtenu un bon score.</a:t>
            </a:r>
            <a:endParaRPr lang="en-US" sz="1200" dirty="0"/>
          </a:p>
        </p:txBody>
      </p:sp>
      <p:sp>
        <p:nvSpPr>
          <p:cNvPr id="9" name="Shape 7"/>
          <p:cNvSpPr/>
          <p:nvPr/>
        </p:nvSpPr>
        <p:spPr>
          <a:xfrm>
            <a:off x="548640" y="2843784"/>
            <a:ext cx="11064240" cy="822960"/>
          </a:xfrm>
          <a:prstGeom prst="roundRect">
            <a:avLst>
              <a:gd name="adj" fmla="val 13333"/>
            </a:avLst>
          </a:prstGeom>
          <a:solidFill>
            <a:srgbClr val="FFFFFF"/>
          </a:solidFill>
          <a:ln w="12700">
            <a:solidFill>
              <a:srgbClr val="FFFFFF"/>
            </a:solidFill>
            <a:prstDash val="solid"/>
          </a:ln>
        </p:spPr>
      </p:sp>
      <p:sp>
        <p:nvSpPr>
          <p:cNvPr id="10" name="Shape 8"/>
          <p:cNvSpPr/>
          <p:nvPr/>
        </p:nvSpPr>
        <p:spPr>
          <a:xfrm>
            <a:off x="777240" y="3099816"/>
            <a:ext cx="310896" cy="310896"/>
          </a:xfrm>
          <a:prstGeom prst="ellipse">
            <a:avLst/>
          </a:prstGeom>
          <a:solidFill>
            <a:srgbClr val="CADCFC"/>
          </a:solidFill>
          <a:ln w="12700">
            <a:solidFill>
              <a:srgbClr val="CADCFC"/>
            </a:solidFill>
            <a:prstDash val="solid"/>
          </a:ln>
        </p:spPr>
      </p:sp>
      <p:sp>
        <p:nvSpPr>
          <p:cNvPr id="11" name="Text 9"/>
          <p:cNvSpPr txBox="1"/>
          <p:nvPr/>
        </p:nvSpPr>
        <p:spPr>
          <a:xfrm>
            <a:off x="777240" y="3099816"/>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261872" y="2935224"/>
            <a:ext cx="2743200" cy="6400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Intervalle de confiance à 95 %</a:t>
            </a:r>
            <a:endParaRPr lang="en-US" sz="1400" dirty="0"/>
          </a:p>
        </p:txBody>
      </p:sp>
      <p:sp>
        <p:nvSpPr>
          <p:cNvPr id="13" name="Text 11"/>
          <p:cNvSpPr txBox="1"/>
          <p:nvPr/>
        </p:nvSpPr>
        <p:spPr>
          <a:xfrm>
            <a:off x="4114800" y="2935224"/>
            <a:ext cx="7315200" cy="64008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Chaque score est accompagné de sa marge d'incertitude (10 000 rééchantillonnages). Un écart plus petit que la marge n'est pas un écart.</a:t>
            </a:r>
            <a:endParaRPr lang="en-US" sz="1200" dirty="0"/>
          </a:p>
        </p:txBody>
      </p:sp>
      <p:sp>
        <p:nvSpPr>
          <p:cNvPr id="14" name="Shape 12"/>
          <p:cNvSpPr/>
          <p:nvPr/>
        </p:nvSpPr>
        <p:spPr>
          <a:xfrm>
            <a:off x="548640" y="3721608"/>
            <a:ext cx="11064240" cy="822960"/>
          </a:xfrm>
          <a:prstGeom prst="roundRect">
            <a:avLst>
              <a:gd name="adj" fmla="val 13333"/>
            </a:avLst>
          </a:prstGeom>
          <a:solidFill>
            <a:srgbClr val="FFFFFF"/>
          </a:solidFill>
          <a:ln w="12700">
            <a:solidFill>
              <a:srgbClr val="FFFFFF"/>
            </a:solidFill>
            <a:prstDash val="solid"/>
          </a:ln>
        </p:spPr>
      </p:sp>
      <p:sp>
        <p:nvSpPr>
          <p:cNvPr id="15" name="Shape 13"/>
          <p:cNvSpPr/>
          <p:nvPr/>
        </p:nvSpPr>
        <p:spPr>
          <a:xfrm>
            <a:off x="777240" y="3977640"/>
            <a:ext cx="310896" cy="310896"/>
          </a:xfrm>
          <a:prstGeom prst="ellipse">
            <a:avLst/>
          </a:prstGeom>
          <a:solidFill>
            <a:srgbClr val="CADCFC"/>
          </a:solidFill>
          <a:ln w="12700">
            <a:solidFill>
              <a:srgbClr val="CADCFC"/>
            </a:solidFill>
            <a:prstDash val="solid"/>
          </a:ln>
        </p:spPr>
      </p:sp>
      <p:sp>
        <p:nvSpPr>
          <p:cNvPr id="16" name="Text 14"/>
          <p:cNvSpPr txBox="1"/>
          <p:nvPr/>
        </p:nvSpPr>
        <p:spPr>
          <a:xfrm>
            <a:off x="777240" y="3977640"/>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261872" y="3813048"/>
            <a:ext cx="2743200" cy="6400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Test de McNemar apparié</a:t>
            </a:r>
            <a:endParaRPr lang="en-US" sz="1400" dirty="0"/>
          </a:p>
        </p:txBody>
      </p:sp>
      <p:sp>
        <p:nvSpPr>
          <p:cNvPr id="18" name="Text 16"/>
          <p:cNvSpPr txBox="1"/>
          <p:nvPr/>
        </p:nvSpPr>
        <p:spPr>
          <a:xfrm>
            <a:off x="4114800" y="3813048"/>
            <a:ext cx="7315200" cy="64008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Répond à la question « l'écart entre deux approches est-il réel ou dû au hasard ? », en les comparant réclamation par réclamation sur les mêmes textes.</a:t>
            </a:r>
            <a:endParaRPr lang="en-US" sz="1200" dirty="0"/>
          </a:p>
        </p:txBody>
      </p:sp>
      <p:sp>
        <p:nvSpPr>
          <p:cNvPr id="19" name="Shape 17"/>
          <p:cNvSpPr/>
          <p:nvPr/>
        </p:nvSpPr>
        <p:spPr>
          <a:xfrm>
            <a:off x="548640" y="4599432"/>
            <a:ext cx="11064240" cy="822960"/>
          </a:xfrm>
          <a:prstGeom prst="roundRect">
            <a:avLst>
              <a:gd name="adj" fmla="val 13333"/>
            </a:avLst>
          </a:prstGeom>
          <a:solidFill>
            <a:srgbClr val="FFFFFF"/>
          </a:solidFill>
          <a:ln w="12700">
            <a:solidFill>
              <a:srgbClr val="FFFFFF"/>
            </a:solidFill>
            <a:prstDash val="solid"/>
          </a:ln>
        </p:spPr>
      </p:sp>
      <p:sp>
        <p:nvSpPr>
          <p:cNvPr id="20" name="Shape 18"/>
          <p:cNvSpPr/>
          <p:nvPr/>
        </p:nvSpPr>
        <p:spPr>
          <a:xfrm>
            <a:off x="777240" y="4855464"/>
            <a:ext cx="310896" cy="310896"/>
          </a:xfrm>
          <a:prstGeom prst="ellipse">
            <a:avLst/>
          </a:prstGeom>
          <a:solidFill>
            <a:srgbClr val="CADCFC"/>
          </a:solidFill>
          <a:ln w="12700">
            <a:solidFill>
              <a:srgbClr val="CADCFC"/>
            </a:solidFill>
            <a:prstDash val="solid"/>
          </a:ln>
        </p:spPr>
      </p:sp>
      <p:sp>
        <p:nvSpPr>
          <p:cNvPr id="21" name="Text 19"/>
          <p:cNvSpPr txBox="1"/>
          <p:nvPr/>
        </p:nvSpPr>
        <p:spPr>
          <a:xfrm>
            <a:off x="777240" y="4855464"/>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261872" y="4690872"/>
            <a:ext cx="2743200" cy="6400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Temps de réponse</a:t>
            </a:r>
            <a:endParaRPr lang="en-US" sz="1400" dirty="0"/>
          </a:p>
        </p:txBody>
      </p:sp>
      <p:sp>
        <p:nvSpPr>
          <p:cNvPr id="23" name="Text 21"/>
          <p:cNvSpPr txBox="1"/>
          <p:nvPr/>
        </p:nvSpPr>
        <p:spPr>
          <a:xfrm>
            <a:off x="4114800" y="4690872"/>
            <a:ext cx="7315200" cy="64008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Mesuré pour chaque approche, y compris les attentes réelles, parce qu'il détermine l'expérience de l'agent qui clique.</a:t>
            </a:r>
            <a:endParaRPr lang="en-US" sz="1200" dirty="0"/>
          </a:p>
        </p:txBody>
      </p:sp>
      <p:sp>
        <p:nvSpPr>
          <p:cNvPr id="24" name="Shape 22"/>
          <p:cNvSpPr/>
          <p:nvPr/>
        </p:nvSpPr>
        <p:spPr>
          <a:xfrm>
            <a:off x="548640" y="5477256"/>
            <a:ext cx="11064240" cy="822960"/>
          </a:xfrm>
          <a:prstGeom prst="roundRect">
            <a:avLst>
              <a:gd name="adj" fmla="val 13333"/>
            </a:avLst>
          </a:prstGeom>
          <a:solidFill>
            <a:srgbClr val="FFFFFF"/>
          </a:solidFill>
          <a:ln w="12700">
            <a:solidFill>
              <a:srgbClr val="FFFFFF"/>
            </a:solidFill>
            <a:prstDash val="solid"/>
          </a:ln>
        </p:spPr>
      </p:sp>
      <p:sp>
        <p:nvSpPr>
          <p:cNvPr id="25" name="Shape 23"/>
          <p:cNvSpPr/>
          <p:nvPr/>
        </p:nvSpPr>
        <p:spPr>
          <a:xfrm>
            <a:off x="777240" y="5733288"/>
            <a:ext cx="310896" cy="310896"/>
          </a:xfrm>
          <a:prstGeom prst="ellipse">
            <a:avLst/>
          </a:prstGeom>
          <a:solidFill>
            <a:srgbClr val="CADCFC"/>
          </a:solidFill>
          <a:ln w="12700">
            <a:solidFill>
              <a:srgbClr val="CADCFC"/>
            </a:solidFill>
            <a:prstDash val="solid"/>
          </a:ln>
        </p:spPr>
      </p:sp>
      <p:sp>
        <p:nvSpPr>
          <p:cNvPr id="26" name="Text 24"/>
          <p:cNvSpPr txBox="1"/>
          <p:nvPr/>
        </p:nvSpPr>
        <p:spPr>
          <a:xfrm>
            <a:off x="777240" y="5733288"/>
            <a:ext cx="310896" cy="310896"/>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5</a:t>
            </a:r>
            <a:endParaRPr lang="en-US" sz="1200" dirty="0"/>
          </a:p>
        </p:txBody>
      </p:sp>
      <p:sp>
        <p:nvSpPr>
          <p:cNvPr id="27" name="Text 25"/>
          <p:cNvSpPr txBox="1"/>
          <p:nvPr/>
        </p:nvSpPr>
        <p:spPr>
          <a:xfrm>
            <a:off x="1261872" y="5568696"/>
            <a:ext cx="2743200" cy="6400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Taux de conformité du format</a:t>
            </a:r>
            <a:endParaRPr lang="en-US" sz="1400" dirty="0"/>
          </a:p>
        </p:txBody>
      </p:sp>
      <p:sp>
        <p:nvSpPr>
          <p:cNvPr id="28" name="Text 26"/>
          <p:cNvSpPr txBox="1"/>
          <p:nvPr/>
        </p:nvSpPr>
        <p:spPr>
          <a:xfrm>
            <a:off x="4114800" y="5568696"/>
            <a:ext cx="7315200" cy="64008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Propre au LLM : part des réponses réellement exploitables. Le ML ne peut rendre qu'une catégorie du référentiel.</a:t>
            </a:r>
            <a:endParaRPr lang="en-US" sz="1200" dirty="0"/>
          </a:p>
        </p:txBody>
      </p:sp>
      <p:sp>
        <p:nvSpPr>
          <p:cNvPr id="29" name="Text 27"/>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Métriques figées dans src/metrics.py avant toute mesure — détail dans reports/etape2_synthese.md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Le protocole d'évaluation</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Les deux approches jugées sur exactement les mêmes réclamations</a:t>
            </a:r>
            <a:endParaRPr lang="en-US" sz="1500" dirty="0"/>
          </a:p>
        </p:txBody>
      </p:sp>
      <p:sp>
        <p:nvSpPr>
          <p:cNvPr id="4" name="Shape 2"/>
          <p:cNvSpPr/>
          <p:nvPr/>
        </p:nvSpPr>
        <p:spPr>
          <a:xfrm>
            <a:off x="548640" y="1965960"/>
            <a:ext cx="566928" cy="566928"/>
          </a:xfrm>
          <a:prstGeom prst="ellipse">
            <a:avLst/>
          </a:prstGeom>
          <a:solidFill>
            <a:srgbClr val="1E2761"/>
          </a:solidFill>
          <a:ln w="12700">
            <a:solidFill>
              <a:srgbClr val="1E2761"/>
            </a:solidFill>
            <a:prstDash val="solid"/>
          </a:ln>
        </p:spPr>
      </p:sp>
      <p:sp>
        <p:nvSpPr>
          <p:cNvPr id="5" name="Text 3"/>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325880" y="1984248"/>
            <a:ext cx="28346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Séparation</a:t>
            </a:r>
            <a:endParaRPr lang="en-US" sz="1600" dirty="0"/>
          </a:p>
        </p:txBody>
      </p:sp>
      <p:sp>
        <p:nvSpPr>
          <p:cNvPr id="7" name="Text 5"/>
          <p:cNvSpPr txBox="1"/>
          <p:nvPr/>
        </p:nvSpPr>
        <p:spPr>
          <a:xfrm>
            <a:off x="4297680" y="1947672"/>
            <a:ext cx="7315200" cy="68580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80 % pour l'apprentissage (283 449 réclamations), 20 % pour le test (70 863). Le modèle n'a jamais vu les textes sur lesquels il est noté.</a:t>
            </a:r>
            <a:endParaRPr lang="en-US" sz="1300" dirty="0"/>
          </a:p>
        </p:txBody>
      </p:sp>
      <p:sp>
        <p:nvSpPr>
          <p:cNvPr id="8" name="Shape 6"/>
          <p:cNvSpPr/>
          <p:nvPr/>
        </p:nvSpPr>
        <p:spPr>
          <a:xfrm>
            <a:off x="832104" y="2532888"/>
            <a:ext cx="0" cy="457200"/>
          </a:xfrm>
          <a:prstGeom prst="line">
            <a:avLst/>
          </a:prstGeom>
          <a:noFill/>
          <a:ln w="25400">
            <a:solidFill>
              <a:srgbClr val="CADCFC"/>
            </a:solidFill>
            <a:prstDash val="solid"/>
          </a:ln>
        </p:spPr>
      </p:sp>
      <p:sp>
        <p:nvSpPr>
          <p:cNvPr id="9" name="Shape 7"/>
          <p:cNvSpPr/>
          <p:nvPr/>
        </p:nvSpPr>
        <p:spPr>
          <a:xfrm>
            <a:off x="548640" y="2990088"/>
            <a:ext cx="566928" cy="566928"/>
          </a:xfrm>
          <a:prstGeom prst="ellipse">
            <a:avLst/>
          </a:prstGeom>
          <a:solidFill>
            <a:srgbClr val="1E2761"/>
          </a:solidFill>
          <a:ln w="12700">
            <a:solidFill>
              <a:srgbClr val="1E2761"/>
            </a:solidFill>
            <a:prstDash val="solid"/>
          </a:ln>
        </p:spPr>
      </p:sp>
      <p:sp>
        <p:nvSpPr>
          <p:cNvPr id="10" name="Text 8"/>
          <p:cNvSpPr txBox="1"/>
          <p:nvPr/>
        </p:nvSpPr>
        <p:spPr>
          <a:xfrm>
            <a:off x="548640" y="299008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1325880" y="3008376"/>
            <a:ext cx="28346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Échantillon d'évaluation</a:t>
            </a:r>
            <a:endParaRPr lang="en-US" sz="1600" dirty="0"/>
          </a:p>
        </p:txBody>
      </p:sp>
      <p:sp>
        <p:nvSpPr>
          <p:cNvPr id="12" name="Text 10"/>
          <p:cNvSpPr txBox="1"/>
          <p:nvPr/>
        </p:nvSpPr>
        <p:spPr>
          <a:xfrm>
            <a:off x="4297680" y="2971800"/>
            <a:ext cx="7315200" cy="68580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2 000 réclamations tirées du test, avec un minimum garanti par catégorie pour que les plus rares soient mesurables, puis repondérées pour rester représentatives.</a:t>
            </a:r>
            <a:endParaRPr lang="en-US" sz="1300" dirty="0"/>
          </a:p>
        </p:txBody>
      </p:sp>
      <p:sp>
        <p:nvSpPr>
          <p:cNvPr id="13" name="Shape 11"/>
          <p:cNvSpPr/>
          <p:nvPr/>
        </p:nvSpPr>
        <p:spPr>
          <a:xfrm>
            <a:off x="832104" y="3557016"/>
            <a:ext cx="0" cy="457200"/>
          </a:xfrm>
          <a:prstGeom prst="line">
            <a:avLst/>
          </a:prstGeom>
          <a:noFill/>
          <a:ln w="25400">
            <a:solidFill>
              <a:srgbClr val="CADCFC"/>
            </a:solidFill>
            <a:prstDash val="solid"/>
          </a:ln>
        </p:spPr>
      </p:sp>
      <p:sp>
        <p:nvSpPr>
          <p:cNvPr id="14" name="Shape 12"/>
          <p:cNvSpPr/>
          <p:nvPr/>
        </p:nvSpPr>
        <p:spPr>
          <a:xfrm>
            <a:off x="548640" y="4014216"/>
            <a:ext cx="566928" cy="566928"/>
          </a:xfrm>
          <a:prstGeom prst="ellipse">
            <a:avLst/>
          </a:prstGeom>
          <a:solidFill>
            <a:srgbClr val="1E2761"/>
          </a:solidFill>
          <a:ln w="12700">
            <a:solidFill>
              <a:srgbClr val="1E2761"/>
            </a:solidFill>
            <a:prstDash val="solid"/>
          </a:ln>
        </p:spPr>
      </p:sp>
      <p:sp>
        <p:nvSpPr>
          <p:cNvPr id="15" name="Text 13"/>
          <p:cNvSpPr txBox="1"/>
          <p:nvPr/>
        </p:nvSpPr>
        <p:spPr>
          <a:xfrm>
            <a:off x="548640" y="401421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1325880" y="4032504"/>
            <a:ext cx="28346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Mise au point séparée</a:t>
            </a:r>
            <a:endParaRPr lang="en-US" sz="1600" dirty="0"/>
          </a:p>
        </p:txBody>
      </p:sp>
      <p:sp>
        <p:nvSpPr>
          <p:cNvPr id="17" name="Text 15"/>
          <p:cNvSpPr txBox="1"/>
          <p:nvPr/>
        </p:nvSpPr>
        <p:spPr>
          <a:xfrm>
            <a:off x="4297680" y="3995928"/>
            <a:ext cx="7315200" cy="68580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Les prompts et les réglages ont été mis au point sur les données d'apprentissage uniquement, jamais sur l'échantillon d'évaluation.</a:t>
            </a:r>
            <a:endParaRPr lang="en-US" sz="1300" dirty="0"/>
          </a:p>
        </p:txBody>
      </p:sp>
      <p:sp>
        <p:nvSpPr>
          <p:cNvPr id="18" name="Shape 16"/>
          <p:cNvSpPr/>
          <p:nvPr/>
        </p:nvSpPr>
        <p:spPr>
          <a:xfrm>
            <a:off x="832104" y="4581144"/>
            <a:ext cx="0" cy="457200"/>
          </a:xfrm>
          <a:prstGeom prst="line">
            <a:avLst/>
          </a:prstGeom>
          <a:noFill/>
          <a:ln w="25400">
            <a:solidFill>
              <a:srgbClr val="CADCFC"/>
            </a:solidFill>
            <a:prstDash val="solid"/>
          </a:ln>
        </p:spPr>
      </p:sp>
      <p:sp>
        <p:nvSpPr>
          <p:cNvPr id="19" name="Shape 17"/>
          <p:cNvSpPr/>
          <p:nvPr/>
        </p:nvSpPr>
        <p:spPr>
          <a:xfrm>
            <a:off x="548640" y="5038344"/>
            <a:ext cx="566928" cy="566928"/>
          </a:xfrm>
          <a:prstGeom prst="ellipse">
            <a:avLst/>
          </a:prstGeom>
          <a:solidFill>
            <a:srgbClr val="1E2761"/>
          </a:solidFill>
          <a:ln w="12700">
            <a:solidFill>
              <a:srgbClr val="1E2761"/>
            </a:solidFill>
            <a:prstDash val="solid"/>
          </a:ln>
        </p:spPr>
      </p:sp>
      <p:sp>
        <p:nvSpPr>
          <p:cNvPr id="20" name="Text 18"/>
          <p:cNvSpPr txBox="1"/>
          <p:nvPr/>
        </p:nvSpPr>
        <p:spPr>
          <a:xfrm>
            <a:off x="548640" y="503834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1325880" y="5056632"/>
            <a:ext cx="2834640" cy="32004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Comparaison appariée</a:t>
            </a:r>
            <a:endParaRPr lang="en-US" sz="1600" dirty="0"/>
          </a:p>
        </p:txBody>
      </p:sp>
      <p:sp>
        <p:nvSpPr>
          <p:cNvPr id="22" name="Text 20"/>
          <p:cNvSpPr txBox="1"/>
          <p:nvPr/>
        </p:nvSpPr>
        <p:spPr>
          <a:xfrm>
            <a:off x="4297680" y="5020056"/>
            <a:ext cx="7315200" cy="68580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Chaque approche classe les mêmes 2 000 textes. Les écarts sont testés statistiquement, avec correction pour les comparaisons multiples.</a:t>
            </a:r>
            <a:endParaRPr lang="en-US" sz="1300" dirty="0"/>
          </a:p>
        </p:txBody>
      </p:sp>
      <p:sp>
        <p:nvSpPr>
          <p:cNvPr id="23" name="Shape 21"/>
          <p:cNvSpPr/>
          <p:nvPr/>
        </p:nvSpPr>
        <p:spPr>
          <a:xfrm>
            <a:off x="548640" y="5806440"/>
            <a:ext cx="11064240" cy="566928"/>
          </a:xfrm>
          <a:prstGeom prst="roundRect">
            <a:avLst>
              <a:gd name="adj" fmla="val 19355"/>
            </a:avLst>
          </a:prstGeom>
          <a:solidFill>
            <a:srgbClr val="F4F6FB"/>
          </a:solidFill>
          <a:ln w="12700">
            <a:solidFill>
              <a:srgbClr val="F4F6FB"/>
            </a:solidFill>
            <a:prstDash val="solid"/>
          </a:ln>
        </p:spPr>
      </p:sp>
      <p:sp>
        <p:nvSpPr>
          <p:cNvPr id="24" name="Text 22"/>
          <p:cNvSpPr txBox="1"/>
          <p:nvPr/>
        </p:nvSpPr>
        <p:spPr>
          <a:xfrm>
            <a:off x="822960" y="5806440"/>
            <a:ext cx="10515600" cy="566928"/>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Conséquence : tout écart présenté dans les pages suivantes porte sur les mêmes textes, avec les mêmes règles de calcul.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Approche LLM : ce que donnent les mesures</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Mistral, deux modèles et huit formulations de consigne, sur deux campagnes</a:t>
            </a:r>
            <a:endParaRPr lang="en-US" sz="1500" dirty="0"/>
          </a:p>
        </p:txBody>
      </p:sp>
      <p:sp>
        <p:nvSpPr>
          <p:cNvPr id="4" name="Text 2"/>
          <p:cNvSpPr txBox="1"/>
          <p:nvPr/>
        </p:nvSpPr>
        <p:spPr>
          <a:xfrm>
            <a:off x="548640" y="1874520"/>
            <a:ext cx="2743200" cy="77724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0,789</a:t>
            </a:r>
            <a:endParaRPr lang="en-US" sz="4000" dirty="0"/>
          </a:p>
        </p:txBody>
      </p:sp>
      <p:sp>
        <p:nvSpPr>
          <p:cNvPr id="5" name="Text 3"/>
          <p:cNvSpPr txBox="1"/>
          <p:nvPr/>
        </p:nvSpPr>
        <p:spPr>
          <a:xfrm>
            <a:off x="548640" y="2651760"/>
            <a:ext cx="27432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F1-macro de mistral-small</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IC 95 % [0,766 ; 0,810]</a:t>
            </a:r>
            <a:endParaRPr lang="en-US" sz="1200" dirty="0"/>
          </a:p>
        </p:txBody>
      </p:sp>
      <p:sp>
        <p:nvSpPr>
          <p:cNvPr id="6" name="Text 4"/>
          <p:cNvSpPr txBox="1"/>
          <p:nvPr/>
        </p:nvSpPr>
        <p:spPr>
          <a:xfrm>
            <a:off x="3474720" y="1874520"/>
            <a:ext cx="2743200" cy="777240"/>
          </a:xfrm>
          <a:prstGeom prst="rect">
            <a:avLst/>
          </a:prstGeom>
          <a:noFill/>
          <a:ln/>
        </p:spPr>
        <p:txBody>
          <a:bodyPr wrap="square" lIns="0" tIns="0" rIns="0" bIns="0" rtlCol="0" anchor="ctr"/>
          <a:lstStyle/>
          <a:p>
            <a:pPr indent="0" marL="0">
              <a:buNone/>
            </a:pPr>
            <a:r>
              <a:rPr lang="en-US" sz="4000" b="1" dirty="0">
                <a:solidFill>
                  <a:srgbClr val="6B7280"/>
                </a:solidFill>
                <a:latin typeface="Cambria" pitchFamily="34" charset="0"/>
                <a:ea typeface="Cambria" pitchFamily="34" charset="-122"/>
                <a:cs typeface="Cambria" pitchFamily="34" charset="-120"/>
              </a:rPr>
              <a:t>0,714</a:t>
            </a:r>
            <a:endParaRPr lang="en-US" sz="4000" dirty="0"/>
          </a:p>
        </p:txBody>
      </p:sp>
      <p:sp>
        <p:nvSpPr>
          <p:cNvPr id="7" name="Text 5"/>
          <p:cNvSpPr txBox="1"/>
          <p:nvPr/>
        </p:nvSpPr>
        <p:spPr>
          <a:xfrm>
            <a:off x="3474720" y="2651760"/>
            <a:ext cx="27432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F1-macro de ministral-3b</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modèle plus léger, nettement moins bon</a:t>
            </a:r>
            <a:endParaRPr lang="en-US" sz="1200" dirty="0"/>
          </a:p>
        </p:txBody>
      </p:sp>
      <p:sp>
        <p:nvSpPr>
          <p:cNvPr id="8" name="Text 6"/>
          <p:cNvSpPr txBox="1"/>
          <p:nvPr/>
        </p:nvSpPr>
        <p:spPr>
          <a:xfrm>
            <a:off x="6400800" y="1874520"/>
            <a:ext cx="2743200" cy="77724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99,5 %</a:t>
            </a:r>
            <a:endParaRPr lang="en-US" sz="4000" dirty="0"/>
          </a:p>
        </p:txBody>
      </p:sp>
      <p:sp>
        <p:nvSpPr>
          <p:cNvPr id="9" name="Text 7"/>
          <p:cNvSpPr txBox="1"/>
          <p:nvPr/>
        </p:nvSpPr>
        <p:spPr>
          <a:xfrm>
            <a:off x="6400800" y="2651760"/>
            <a:ext cx="27432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 réponses au format attendu</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avec la consigne retenue</a:t>
            </a:r>
            <a:endParaRPr lang="en-US" sz="1200" dirty="0"/>
          </a:p>
        </p:txBody>
      </p:sp>
      <p:sp>
        <p:nvSpPr>
          <p:cNvPr id="10" name="Text 8"/>
          <p:cNvSpPr txBox="1"/>
          <p:nvPr/>
        </p:nvSpPr>
        <p:spPr>
          <a:xfrm>
            <a:off x="9326880" y="1874520"/>
            <a:ext cx="2743200" cy="777240"/>
          </a:xfrm>
          <a:prstGeom prst="rect">
            <a:avLst/>
          </a:prstGeom>
          <a:noFill/>
          <a:ln/>
        </p:spPr>
        <p:txBody>
          <a:bodyPr wrap="square" lIns="0" tIns="0" rIns="0" bIns="0" rtlCol="0" anchor="ctr"/>
          <a:lstStyle/>
          <a:p>
            <a:pPr indent="0" marL="0">
              <a:buNone/>
            </a:pPr>
            <a:r>
              <a:rPr lang="en-US" sz="4000" b="1" dirty="0">
                <a:solidFill>
                  <a:srgbClr val="1E2761"/>
                </a:solidFill>
                <a:latin typeface="Cambria" pitchFamily="34" charset="0"/>
                <a:ea typeface="Cambria" pitchFamily="34" charset="-122"/>
                <a:cs typeface="Cambria" pitchFamily="34" charset="-120"/>
              </a:rPr>
              <a:t>0,38 $</a:t>
            </a:r>
            <a:endParaRPr lang="en-US" sz="4000" dirty="0"/>
          </a:p>
        </p:txBody>
      </p:sp>
      <p:sp>
        <p:nvSpPr>
          <p:cNvPr id="11" name="Text 9"/>
          <p:cNvSpPr txBox="1"/>
          <p:nvPr/>
        </p:nvSpPr>
        <p:spPr>
          <a:xfrm>
            <a:off x="9326880" y="2651760"/>
            <a:ext cx="2743200" cy="54864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coût total de l'évaluation</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7 401 appels, 0 erreur réseau</a:t>
            </a:r>
            <a:endParaRPr lang="en-US" sz="1200" dirty="0"/>
          </a:p>
        </p:txBody>
      </p:sp>
      <p:sp>
        <p:nvSpPr>
          <p:cNvPr id="12" name="Shape 10"/>
          <p:cNvSpPr/>
          <p:nvPr/>
        </p:nvSpPr>
        <p:spPr>
          <a:xfrm>
            <a:off x="548640" y="3611880"/>
            <a:ext cx="5349240" cy="2423160"/>
          </a:xfrm>
          <a:prstGeom prst="roundRect">
            <a:avLst>
              <a:gd name="adj" fmla="val 4528"/>
            </a:avLst>
          </a:prstGeom>
          <a:solidFill>
            <a:srgbClr val="F4F6FB"/>
          </a:solidFill>
          <a:ln w="12700">
            <a:solidFill>
              <a:srgbClr val="F4F6FB"/>
            </a:solidFill>
            <a:prstDash val="solid"/>
          </a:ln>
        </p:spPr>
      </p:sp>
      <p:sp>
        <p:nvSpPr>
          <p:cNvPr id="13" name="Text 11"/>
          <p:cNvSpPr txBox="1"/>
          <p:nvPr/>
        </p:nvSpPr>
        <p:spPr>
          <a:xfrm>
            <a:off x="822960" y="3794760"/>
            <a:ext cx="480060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Ce qui fonctionne bien</a:t>
            </a:r>
            <a:endParaRPr lang="en-US" sz="1700" dirty="0"/>
          </a:p>
        </p:txBody>
      </p:sp>
      <p:sp>
        <p:nvSpPr>
          <p:cNvPr id="14" name="Text 12"/>
          <p:cNvSpPr txBox="1"/>
          <p:nvPr/>
        </p:nvSpPr>
        <p:spPr>
          <a:xfrm>
            <a:off x="822960" y="4206240"/>
            <a:ext cx="4800600" cy="1691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Aucun apprentissage nécessaire : le modèle classe correctement dès la première consigne.</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Résultats stables : cinq passages sur les mêmes textes donnent des réponses identiques.</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Meilleur que le ML sur la catégorie la plus rare du corpus (Vehicle loan or lease).</a:t>
            </a:r>
            <a:endParaRPr lang="en-US" sz="1300" dirty="0"/>
          </a:p>
        </p:txBody>
      </p:sp>
      <p:sp>
        <p:nvSpPr>
          <p:cNvPr id="15" name="Shape 13"/>
          <p:cNvSpPr/>
          <p:nvPr/>
        </p:nvSpPr>
        <p:spPr>
          <a:xfrm>
            <a:off x="6263640" y="3611880"/>
            <a:ext cx="5349240" cy="2423160"/>
          </a:xfrm>
          <a:prstGeom prst="roundRect">
            <a:avLst>
              <a:gd name="adj" fmla="val 4528"/>
            </a:avLst>
          </a:prstGeom>
          <a:solidFill>
            <a:srgbClr val="FDEEEF"/>
          </a:solidFill>
          <a:ln w="12700">
            <a:solidFill>
              <a:srgbClr val="FDEEEF"/>
            </a:solidFill>
            <a:prstDash val="solid"/>
          </a:ln>
        </p:spPr>
      </p:sp>
      <p:sp>
        <p:nvSpPr>
          <p:cNvPr id="16" name="Text 14"/>
          <p:cNvSpPr txBox="1"/>
          <p:nvPr/>
        </p:nvSpPr>
        <p:spPr>
          <a:xfrm>
            <a:off x="6537960" y="3794760"/>
            <a:ext cx="4800600" cy="365760"/>
          </a:xfrm>
          <a:prstGeom prst="rect">
            <a:avLst/>
          </a:prstGeom>
          <a:noFill/>
          <a:ln/>
        </p:spPr>
        <p:txBody>
          <a:bodyPr wrap="square" lIns="0" tIns="0" rIns="0" bIns="0" rtlCol="0" anchor="ctr"/>
          <a:lstStyle/>
          <a:p>
            <a:pPr indent="0" marL="0">
              <a:buNone/>
            </a:pPr>
            <a:r>
              <a:rPr lang="en-US" sz="1700" b="1" dirty="0">
                <a:solidFill>
                  <a:srgbClr val="F96167"/>
                </a:solidFill>
                <a:latin typeface="Cambria" pitchFamily="34" charset="0"/>
                <a:ea typeface="Cambria" pitchFamily="34" charset="-122"/>
                <a:cs typeface="Cambria" pitchFamily="34" charset="-120"/>
              </a:rPr>
              <a:t>Ce qui inquiète</a:t>
            </a:r>
            <a:endParaRPr lang="en-US" sz="1700" dirty="0"/>
          </a:p>
        </p:txBody>
      </p:sp>
      <p:sp>
        <p:nvSpPr>
          <p:cNvPr id="17" name="Text 15"/>
          <p:cNvSpPr txBox="1"/>
          <p:nvPr/>
        </p:nvSpPr>
        <p:spPr>
          <a:xfrm>
            <a:off x="6537960" y="4206240"/>
            <a:ext cx="4800600" cy="1691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Huit formulations testées, la seconde campagne portée à 1 835 réclamations pour gagner en puissance : aucune n'a battu la première.</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Le modèle peut rendre une réponse inexploitable, hors référentiel ou mal formée : 19 cas sur 2 000.</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La qualité dépend d'un fournisseur externe, de sa tarification et de ses mises à jour.</a:t>
            </a:r>
            <a:endParaRPr lang="en-US" sz="1300" dirty="0"/>
          </a:p>
        </p:txBody>
      </p:sp>
      <p:sp>
        <p:nvSpPr>
          <p:cNvPr id="18" name="Text 16"/>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 reports/etape2_synthese.md — campagne de 2 000 réclamations, McNemar p = 1,5 × 10⁻⁹ entre les deux modèles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Approche machine learning : les mesures</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Texte transformé en vecteurs (TF-IDF), puis trois classifieurs comparés</a:t>
            </a:r>
            <a:endParaRPr lang="en-US" sz="1500" dirty="0"/>
          </a:p>
        </p:txBody>
      </p:sp>
      <p:graphicFrame>
        <p:nvGraphicFramePr>
          <p:cNvPr id="4" name="Chart 0" descr=""/>
          <p:cNvGraphicFramePr/>
          <p:nvPr/>
        </p:nvGraphicFramePr>
        <p:xfrm>
          <a:off x="548640" y="1874520"/>
          <a:ext cx="6675120" cy="29260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874520"/>
            <a:ext cx="4114800" cy="2926080"/>
          </a:xfrm>
          <a:prstGeom prst="roundRect">
            <a:avLst>
              <a:gd name="adj" fmla="val 3750"/>
            </a:avLst>
          </a:prstGeom>
          <a:solidFill>
            <a:srgbClr val="F4F6FB"/>
          </a:solidFill>
          <a:ln w="12700">
            <a:solidFill>
              <a:srgbClr val="F4F6FB"/>
            </a:solidFill>
            <a:prstDash val="solid"/>
          </a:ln>
        </p:spPr>
      </p:sp>
      <p:sp>
        <p:nvSpPr>
          <p:cNvPr id="6" name="Text 3"/>
          <p:cNvSpPr txBox="1"/>
          <p:nvPr/>
        </p:nvSpPr>
        <p:spPr>
          <a:xfrm>
            <a:off x="7772400" y="2057400"/>
            <a:ext cx="35661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LinearSVC, modèle retenu</a:t>
            </a:r>
            <a:endParaRPr lang="en-US" sz="1600" dirty="0"/>
          </a:p>
        </p:txBody>
      </p:sp>
      <p:sp>
        <p:nvSpPr>
          <p:cNvPr id="7" name="Text 4"/>
          <p:cNvSpPr txBox="1"/>
          <p:nvPr/>
        </p:nvSpPr>
        <p:spPr>
          <a:xfrm>
            <a:off x="7772400" y="2487168"/>
            <a:ext cx="356616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Meilleur des trois classifieurs testés.</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Entraînement : 72 secondes, une seule fois.</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Modèle produit : un fichier de 118 Mo, chargé une fois au démarrage du service.</a:t>
            </a:r>
            <a:endParaRPr lang="en-US" sz="1300" dirty="0"/>
          </a:p>
          <a:p>
            <a:pPr marL="342900" indent="-342900">
              <a:spcAft>
                <a:spcPts val="800"/>
              </a:spcAft>
              <a:buSzPct val="100000"/>
              <a:buChar char="•"/>
            </a:pPr>
            <a:r>
              <a:rPr lang="en-US" sz="1300" dirty="0">
                <a:solidFill>
                  <a:srgbClr val="22262E"/>
                </a:solidFill>
                <a:latin typeface="Calibri" pitchFamily="34" charset="0"/>
                <a:ea typeface="Calibri" pitchFamily="34" charset="-122"/>
                <a:cs typeface="Calibri" pitchFamily="34" charset="-120"/>
              </a:rPr>
              <a:t>Rend toujours une catégorie du référentiel : aucune réponse inexploitable possible.</a:t>
            </a:r>
            <a:endParaRPr lang="en-US" sz="1300" dirty="0"/>
          </a:p>
        </p:txBody>
      </p:sp>
      <p:sp>
        <p:nvSpPr>
          <p:cNvPr id="8" name="Shape 5"/>
          <p:cNvSpPr/>
          <p:nvPr/>
        </p:nvSpPr>
        <p:spPr>
          <a:xfrm>
            <a:off x="548640" y="5120640"/>
            <a:ext cx="11064240" cy="1051560"/>
          </a:xfrm>
          <a:prstGeom prst="roundRect">
            <a:avLst>
              <a:gd name="adj" fmla="val 10435"/>
            </a:avLst>
          </a:prstGeom>
          <a:solidFill>
            <a:srgbClr val="EAF3EF"/>
          </a:solidFill>
          <a:ln w="12700">
            <a:solidFill>
              <a:srgbClr val="EAF3EF"/>
            </a:solidFill>
            <a:prstDash val="solid"/>
          </a:ln>
        </p:spPr>
      </p:sp>
      <p:sp>
        <p:nvSpPr>
          <p:cNvPr id="9" name="Text 6"/>
          <p:cNvSpPr txBox="1"/>
          <p:nvPr/>
        </p:nvSpPr>
        <p:spPr>
          <a:xfrm>
            <a:off x="868680" y="5257800"/>
            <a:ext cx="2377440" cy="777240"/>
          </a:xfrm>
          <a:prstGeom prst="rect">
            <a:avLst/>
          </a:prstGeom>
          <a:noFill/>
          <a:ln/>
        </p:spPr>
        <p:txBody>
          <a:bodyPr wrap="square" lIns="0" tIns="0" rIns="0" bIns="0" rtlCol="0" anchor="ctr"/>
          <a:lstStyle/>
          <a:p>
            <a:pPr indent="0" marL="0">
              <a:buNone/>
            </a:pPr>
            <a:r>
              <a:rPr lang="en-US" sz="3000" b="1" dirty="0">
                <a:solidFill>
                  <a:srgbClr val="1F6F54"/>
                </a:solidFill>
                <a:latin typeface="Cambria" pitchFamily="34" charset="0"/>
                <a:ea typeface="Cambria" pitchFamily="34" charset="-122"/>
                <a:cs typeface="Cambria" pitchFamily="34" charset="-120"/>
              </a:rPr>
              <a:t>+3,03 points</a:t>
            </a:r>
            <a:endParaRPr lang="en-US" sz="3000" dirty="0"/>
          </a:p>
        </p:txBody>
      </p:sp>
      <p:sp>
        <p:nvSpPr>
          <p:cNvPr id="10" name="Text 7"/>
          <p:cNvSpPr txBox="1"/>
          <p:nvPr/>
        </p:nvSpPr>
        <p:spPr>
          <a:xfrm>
            <a:off x="3383280" y="5212080"/>
            <a:ext cx="8046720" cy="86868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de F1-macro pour LinearSVC face au LLM, sur les mêmes réclamations. Le test de McNemar donne p = 2,6 × 10⁻⁸ : l'écart n'est pas attribuable au hasard. Le ML est devant sur 7 catégories sur 9.</a:t>
            </a:r>
            <a:endParaRPr lang="en-US" sz="1300" dirty="0"/>
          </a:p>
        </p:txBody>
      </p:sp>
      <p:sp>
        <p:nvSpPr>
          <p:cNvPr id="11" name="Text 8"/>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 reports/etape3_synthese.md — écart apparié IC 95 % [+0,007 ; +0,053]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Temps de réponse et expérience de l'agent</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Le temps que l'agent attend après avoir cliqué sur « Auto-étiqueter »</a:t>
            </a:r>
            <a:endParaRPr lang="en-US" sz="1500" dirty="0"/>
          </a:p>
        </p:txBody>
      </p:sp>
      <p:sp>
        <p:nvSpPr>
          <p:cNvPr id="4" name="Shape 2"/>
          <p:cNvSpPr/>
          <p:nvPr/>
        </p:nvSpPr>
        <p:spPr>
          <a:xfrm>
            <a:off x="548640" y="1874520"/>
            <a:ext cx="5349240" cy="2834640"/>
          </a:xfrm>
          <a:prstGeom prst="roundRect">
            <a:avLst>
              <a:gd name="adj" fmla="val 3871"/>
            </a:avLst>
          </a:prstGeom>
          <a:solidFill>
            <a:srgbClr val="FDEEEF"/>
          </a:solidFill>
          <a:ln w="12700">
            <a:solidFill>
              <a:srgbClr val="FDEEEF"/>
            </a:solidFill>
            <a:prstDash val="solid"/>
          </a:ln>
        </p:spPr>
      </p:sp>
      <p:sp>
        <p:nvSpPr>
          <p:cNvPr id="5" name="Text 3"/>
          <p:cNvSpPr txBox="1"/>
          <p:nvPr/>
        </p:nvSpPr>
        <p:spPr>
          <a:xfrm>
            <a:off x="822960" y="2057400"/>
            <a:ext cx="4937760" cy="365760"/>
          </a:xfrm>
          <a:prstGeom prst="rect">
            <a:avLst/>
          </a:prstGeom>
          <a:noFill/>
          <a:ln/>
        </p:spPr>
        <p:txBody>
          <a:bodyPr wrap="square" lIns="0" tIns="0" rIns="0" bIns="0" rtlCol="0" anchor="ctr"/>
          <a:lstStyle/>
          <a:p>
            <a:pPr indent="0" marL="0">
              <a:buNone/>
            </a:pPr>
            <a:r>
              <a:rPr lang="en-US" sz="1800" b="1" dirty="0">
                <a:solidFill>
                  <a:srgbClr val="F96167"/>
                </a:solidFill>
                <a:latin typeface="Cambria" pitchFamily="34" charset="0"/>
                <a:ea typeface="Cambria" pitchFamily="34" charset="-122"/>
                <a:cs typeface="Cambria" pitchFamily="34" charset="-120"/>
              </a:rPr>
              <a:t>Approche LLM</a:t>
            </a:r>
            <a:endParaRPr lang="en-US" sz="1800" dirty="0"/>
          </a:p>
        </p:txBody>
      </p:sp>
      <p:sp>
        <p:nvSpPr>
          <p:cNvPr id="6" name="Text 4"/>
          <p:cNvSpPr txBox="1"/>
          <p:nvPr/>
        </p:nvSpPr>
        <p:spPr>
          <a:xfrm>
            <a:off x="822960" y="2514600"/>
            <a:ext cx="2194560" cy="822960"/>
          </a:xfrm>
          <a:prstGeom prst="rect">
            <a:avLst/>
          </a:prstGeom>
          <a:noFill/>
          <a:ln/>
        </p:spPr>
        <p:txBody>
          <a:bodyPr wrap="square" lIns="0" tIns="0" rIns="0" bIns="0" rtlCol="0" anchor="ctr"/>
          <a:lstStyle/>
          <a:p>
            <a:pPr indent="0" marL="0">
              <a:buNone/>
            </a:pPr>
            <a:r>
              <a:rPr lang="en-US" sz="4400" b="1" dirty="0">
                <a:solidFill>
                  <a:srgbClr val="F96167"/>
                </a:solidFill>
                <a:latin typeface="Cambria" pitchFamily="34" charset="0"/>
                <a:ea typeface="Cambria" pitchFamily="34" charset="-122"/>
                <a:cs typeface="Cambria" pitchFamily="34" charset="-120"/>
              </a:rPr>
              <a:t>1,0 s</a:t>
            </a:r>
            <a:endParaRPr lang="en-US" sz="4400" dirty="0"/>
          </a:p>
        </p:txBody>
      </p:sp>
      <p:sp>
        <p:nvSpPr>
          <p:cNvPr id="7" name="Text 5"/>
          <p:cNvSpPr txBox="1"/>
          <p:nvPr/>
        </p:nvSpPr>
        <p:spPr>
          <a:xfrm>
            <a:off x="822960" y="3337560"/>
            <a:ext cx="219456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temps médian perçu</a:t>
            </a:r>
            <a:endParaRPr lang="en-US" sz="1100" dirty="0"/>
          </a:p>
        </p:txBody>
      </p:sp>
      <p:sp>
        <p:nvSpPr>
          <p:cNvPr id="8" name="Text 6"/>
          <p:cNvSpPr txBox="1"/>
          <p:nvPr/>
        </p:nvSpPr>
        <p:spPr>
          <a:xfrm>
            <a:off x="3200400" y="2514600"/>
            <a:ext cx="2606040" cy="12344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0,47 s pour le modèle seul</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1,4 s au p95, 16,8 s au pire</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Dépend du réseau et du fournisseur</a:t>
            </a:r>
            <a:endParaRPr lang="en-US" sz="1200" dirty="0"/>
          </a:p>
        </p:txBody>
      </p:sp>
      <p:sp>
        <p:nvSpPr>
          <p:cNvPr id="9" name="Text 7"/>
          <p:cNvSpPr txBox="1"/>
          <p:nvPr/>
        </p:nvSpPr>
        <p:spPr>
          <a:xfrm>
            <a:off x="822960" y="3977640"/>
            <a:ext cx="4800600" cy="594360"/>
          </a:xfrm>
          <a:prstGeom prst="rect">
            <a:avLst/>
          </a:prstGeom>
          <a:noFill/>
          <a:ln/>
        </p:spPr>
        <p:txBody>
          <a:bodyPr wrap="square" lIns="0" tIns="0" rIns="0" bIns="0" rtlCol="0" anchor="ctr"/>
          <a:lstStyle/>
          <a:p>
            <a:pPr indent="0" marL="0">
              <a:buNone/>
            </a:pPr>
            <a:r>
              <a:rPr lang="en-US" sz="1200" i="1" dirty="0">
                <a:solidFill>
                  <a:srgbClr val="22262E"/>
                </a:solidFill>
                <a:latin typeface="Calibri" pitchFamily="34" charset="0"/>
                <a:ea typeface="Calibri" pitchFamily="34" charset="-122"/>
                <a:cs typeface="Calibri" pitchFamily="34" charset="-120"/>
              </a:rPr>
              <a:t>Un délai d'une seconde est perceptible : l'agent attend, et l'attente se répète 200 fois par jour.</a:t>
            </a:r>
            <a:endParaRPr lang="en-US" sz="1200" dirty="0"/>
          </a:p>
        </p:txBody>
      </p:sp>
      <p:sp>
        <p:nvSpPr>
          <p:cNvPr id="10" name="Shape 8"/>
          <p:cNvSpPr/>
          <p:nvPr/>
        </p:nvSpPr>
        <p:spPr>
          <a:xfrm>
            <a:off x="6263640" y="1874520"/>
            <a:ext cx="5349240" cy="2834640"/>
          </a:xfrm>
          <a:prstGeom prst="roundRect">
            <a:avLst>
              <a:gd name="adj" fmla="val 3871"/>
            </a:avLst>
          </a:prstGeom>
          <a:solidFill>
            <a:srgbClr val="EAF3EF"/>
          </a:solidFill>
          <a:ln w="12700">
            <a:solidFill>
              <a:srgbClr val="EAF3EF"/>
            </a:solidFill>
            <a:prstDash val="solid"/>
          </a:ln>
        </p:spPr>
      </p:sp>
      <p:sp>
        <p:nvSpPr>
          <p:cNvPr id="11" name="Text 9"/>
          <p:cNvSpPr txBox="1"/>
          <p:nvPr/>
        </p:nvSpPr>
        <p:spPr>
          <a:xfrm>
            <a:off x="6537960" y="2057400"/>
            <a:ext cx="4800600" cy="365760"/>
          </a:xfrm>
          <a:prstGeom prst="rect">
            <a:avLst/>
          </a:prstGeom>
          <a:noFill/>
          <a:ln/>
        </p:spPr>
        <p:txBody>
          <a:bodyPr wrap="square" lIns="0" tIns="0" rIns="0" bIns="0" rtlCol="0" anchor="ctr"/>
          <a:lstStyle/>
          <a:p>
            <a:pPr indent="0" marL="0">
              <a:buNone/>
            </a:pPr>
            <a:r>
              <a:rPr lang="en-US" sz="1800" b="1" dirty="0">
                <a:solidFill>
                  <a:srgbClr val="1F6F54"/>
                </a:solidFill>
                <a:latin typeface="Cambria" pitchFamily="34" charset="0"/>
                <a:ea typeface="Cambria" pitchFamily="34" charset="-122"/>
                <a:cs typeface="Cambria" pitchFamily="34" charset="-120"/>
              </a:rPr>
              <a:t>Approche machine learning</a:t>
            </a:r>
            <a:endParaRPr lang="en-US" sz="1800" dirty="0"/>
          </a:p>
        </p:txBody>
      </p:sp>
      <p:sp>
        <p:nvSpPr>
          <p:cNvPr id="12" name="Text 10"/>
          <p:cNvSpPr txBox="1"/>
          <p:nvPr/>
        </p:nvSpPr>
        <p:spPr>
          <a:xfrm>
            <a:off x="6537960" y="2514600"/>
            <a:ext cx="2377440" cy="822960"/>
          </a:xfrm>
          <a:prstGeom prst="rect">
            <a:avLst/>
          </a:prstGeom>
          <a:noFill/>
          <a:ln/>
        </p:spPr>
        <p:txBody>
          <a:bodyPr wrap="square" lIns="0" tIns="0" rIns="0" bIns="0" rtlCol="0" anchor="ctr"/>
          <a:lstStyle/>
          <a:p>
            <a:pPr indent="0" marL="0">
              <a:buNone/>
            </a:pPr>
            <a:r>
              <a:rPr lang="en-US" sz="4400" b="1" dirty="0">
                <a:solidFill>
                  <a:srgbClr val="1F6F54"/>
                </a:solidFill>
                <a:latin typeface="Cambria" pitchFamily="34" charset="0"/>
                <a:ea typeface="Cambria" pitchFamily="34" charset="-122"/>
                <a:cs typeface="Cambria" pitchFamily="34" charset="-120"/>
              </a:rPr>
              <a:t>0,93 ms</a:t>
            </a:r>
            <a:endParaRPr lang="en-US" sz="4400" dirty="0"/>
          </a:p>
        </p:txBody>
      </p:sp>
      <p:sp>
        <p:nvSpPr>
          <p:cNvPr id="13" name="Text 11"/>
          <p:cNvSpPr txBox="1"/>
          <p:nvPr/>
        </p:nvSpPr>
        <p:spPr>
          <a:xfrm>
            <a:off x="6537960" y="3337560"/>
            <a:ext cx="2468880" cy="27432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temps médian mesuré sur l'API</a:t>
            </a:r>
            <a:endParaRPr lang="en-US" sz="1100" dirty="0"/>
          </a:p>
        </p:txBody>
      </p:sp>
      <p:sp>
        <p:nvSpPr>
          <p:cNvPr id="14" name="Text 12"/>
          <p:cNvSpPr txBox="1"/>
          <p:nvPr/>
        </p:nvSpPr>
        <p:spPr>
          <a:xfrm>
            <a:off x="9006840" y="2514600"/>
            <a:ext cx="2468880" cy="12344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1,07 ms au p95, 1,35 ms au pire</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Appel HTTP complet, pas le modèle seul</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Aucune dépendance externe</a:t>
            </a:r>
            <a:endParaRPr lang="en-US" sz="1200" dirty="0"/>
          </a:p>
        </p:txBody>
      </p:sp>
      <p:sp>
        <p:nvSpPr>
          <p:cNvPr id="15" name="Text 13"/>
          <p:cNvSpPr txBox="1"/>
          <p:nvPr/>
        </p:nvSpPr>
        <p:spPr>
          <a:xfrm>
            <a:off x="6537960" y="3977640"/>
            <a:ext cx="4800600" cy="594360"/>
          </a:xfrm>
          <a:prstGeom prst="rect">
            <a:avLst/>
          </a:prstGeom>
          <a:noFill/>
          <a:ln/>
        </p:spPr>
        <p:txBody>
          <a:bodyPr wrap="square" lIns="0" tIns="0" rIns="0" bIns="0" rtlCol="0" anchor="ctr"/>
          <a:lstStyle/>
          <a:p>
            <a:pPr indent="0" marL="0">
              <a:buNone/>
            </a:pPr>
            <a:r>
              <a:rPr lang="en-US" sz="1200" i="1" dirty="0">
                <a:solidFill>
                  <a:srgbClr val="22262E"/>
                </a:solidFill>
                <a:latin typeface="Calibri" pitchFamily="34" charset="0"/>
                <a:ea typeface="Calibri" pitchFamily="34" charset="-122"/>
                <a:cs typeface="Calibri" pitchFamily="34" charset="-120"/>
              </a:rPr>
              <a:t>La réponse est instantanée à l'échelle humaine : la suggestion apparaît sans attente perceptible.</a:t>
            </a:r>
            <a:endParaRPr lang="en-US" sz="1200" dirty="0"/>
          </a:p>
        </p:txBody>
      </p:sp>
      <p:sp>
        <p:nvSpPr>
          <p:cNvPr id="16" name="Shape 14"/>
          <p:cNvSpPr/>
          <p:nvPr/>
        </p:nvSpPr>
        <p:spPr>
          <a:xfrm>
            <a:off x="548640" y="5074920"/>
            <a:ext cx="11064240" cy="1051560"/>
          </a:xfrm>
          <a:prstGeom prst="roundRect">
            <a:avLst>
              <a:gd name="adj" fmla="val 10435"/>
            </a:avLst>
          </a:prstGeom>
          <a:solidFill>
            <a:srgbClr val="1E2761"/>
          </a:solidFill>
          <a:ln w="12700">
            <a:solidFill>
              <a:srgbClr val="1E2761"/>
            </a:solidFill>
            <a:prstDash val="solid"/>
          </a:ln>
        </p:spPr>
      </p:sp>
      <p:sp>
        <p:nvSpPr>
          <p:cNvPr id="17" name="Text 15"/>
          <p:cNvSpPr txBox="1"/>
          <p:nvPr/>
        </p:nvSpPr>
        <p:spPr>
          <a:xfrm>
            <a:off x="868680" y="5212080"/>
            <a:ext cx="237744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 500 ×</a:t>
            </a:r>
            <a:endParaRPr lang="en-US" sz="3000" dirty="0"/>
          </a:p>
        </p:txBody>
      </p:sp>
      <p:sp>
        <p:nvSpPr>
          <p:cNvPr id="18" name="Text 16"/>
          <p:cNvSpPr txBox="1"/>
          <p:nvPr/>
        </p:nvSpPr>
        <p:spPr>
          <a:xfrm>
            <a:off x="3383280" y="5166360"/>
            <a:ext cx="8046720" cy="8686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plus rapide, en comparant ce qui désavantage le plus le machine learning : le modèle LLM seul, sans ses attentes, face à l'appel HTTP complet de l'API. Rapporté au temps réellement perçu côté LLM, le facteur dépasse 1 000.</a:t>
            </a:r>
            <a:endParaRPr lang="en-US" sz="1300" dirty="0"/>
          </a:p>
        </p:txBody>
      </p:sp>
      <p:sp>
        <p:nvSpPr>
          <p:cNvPr id="19" name="Text 17"/>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Sources : reports/etape2_synthese.md §8 (LLM) — API ML mesurée le 2026-09-24, 50 appels après préchauffage, aller-retour HTTP compris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F96167"/>
                </a:solidFill>
                <a:latin typeface="Cambria" pitchFamily="34" charset="0"/>
                <a:ea typeface="Cambria" pitchFamily="34" charset="-122"/>
                <a:cs typeface="Cambria" pitchFamily="34" charset="-120"/>
              </a:rPr>
              <a:t>Le risque d'exploitation : un incident mesuré</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Ce qui s'est passé en ajoutant une définition d'une ligne à chaque catégorie</a:t>
            </a:r>
            <a:endParaRPr lang="en-US" sz="1500" dirty="0"/>
          </a:p>
        </p:txBody>
      </p:sp>
      <p:sp>
        <p:nvSpPr>
          <p:cNvPr id="4" name="Shape 2"/>
          <p:cNvSpPr/>
          <p:nvPr/>
        </p:nvSpPr>
        <p:spPr>
          <a:xfrm>
            <a:off x="548640" y="1874520"/>
            <a:ext cx="11064240" cy="1600200"/>
          </a:xfrm>
          <a:prstGeom prst="roundRect">
            <a:avLst>
              <a:gd name="adj" fmla="val 6857"/>
            </a:avLst>
          </a:prstGeom>
          <a:solidFill>
            <a:srgbClr val="F4F6FB"/>
          </a:solidFill>
          <a:ln w="12700">
            <a:solidFill>
              <a:srgbClr val="F4F6FB"/>
            </a:solidFill>
            <a:prstDash val="solid"/>
          </a:ln>
        </p:spPr>
      </p:sp>
      <p:sp>
        <p:nvSpPr>
          <p:cNvPr id="5" name="Text 3"/>
          <p:cNvSpPr txBox="1"/>
          <p:nvPr/>
        </p:nvSpPr>
        <p:spPr>
          <a:xfrm>
            <a:off x="868680" y="2011680"/>
            <a:ext cx="1042416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Modification apportée à la consigne du LLM</a:t>
            </a:r>
            <a:endParaRPr lang="en-US" sz="1500" dirty="0"/>
          </a:p>
        </p:txBody>
      </p:sp>
      <p:sp>
        <p:nvSpPr>
          <p:cNvPr id="6" name="Text 4"/>
          <p:cNvSpPr txBox="1"/>
          <p:nvPr/>
        </p:nvSpPr>
        <p:spPr>
          <a:xfrm>
            <a:off x="868680" y="2377440"/>
            <a:ext cx="10424160" cy="50292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Une phrase de description ajoutée à côté de chacune des 9 catégories, pour aider le modèle. Ni la consigne, ni le format de réponse demandé, ni le modèle n'ont été touchés.</a:t>
            </a:r>
            <a:endParaRPr lang="en-US" sz="1300" dirty="0"/>
          </a:p>
        </p:txBody>
      </p:sp>
      <p:sp>
        <p:nvSpPr>
          <p:cNvPr id="7" name="Text 5"/>
          <p:cNvSpPr txBox="1"/>
          <p:nvPr/>
        </p:nvSpPr>
        <p:spPr>
          <a:xfrm>
            <a:off x="868680" y="2880360"/>
            <a:ext cx="10424160" cy="502920"/>
          </a:xfrm>
          <a:prstGeom prst="rect">
            <a:avLst/>
          </a:prstGeom>
          <a:noFill/>
          <a:ln/>
        </p:spPr>
        <p:txBody>
          <a:bodyPr wrap="square" lIns="0" tIns="0" rIns="0" bIns="0" rtlCol="0" anchor="ctr"/>
          <a:lstStyle/>
          <a:p>
            <a:pPr indent="0" marL="0">
              <a:buNone/>
            </a:pPr>
            <a:r>
              <a:rPr lang="en-US" sz="1300" i="1" dirty="0">
                <a:solidFill>
                  <a:srgbClr val="F96167"/>
                </a:solidFill>
                <a:latin typeface="Calibri" pitchFamily="34" charset="0"/>
                <a:ea typeface="Calibri" pitchFamily="34" charset="-122"/>
                <a:cs typeface="Calibri" pitchFamily="34" charset="-120"/>
              </a:rPr>
              <a:t>Résultat : le modèle s'est mis à recopier la définition entière dans sa réponse, qui devenait inexploitable. Sur 200 réclamations, 40 ont été cassées pour 3 corrigées — dégradation statistiquement établie, p &lt; 10⁻⁵.</a:t>
            </a:r>
            <a:endParaRPr lang="en-US" sz="1300" dirty="0"/>
          </a:p>
        </p:txBody>
      </p:sp>
      <p:graphicFrame>
        <p:nvGraphicFramePr>
          <p:cNvPr id="8" name="Chart 0" descr=""/>
          <p:cNvGraphicFramePr/>
          <p:nvPr/>
        </p:nvGraphicFramePr>
        <p:xfrm>
          <a:off x="548640" y="3657600"/>
          <a:ext cx="5852160" cy="23317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583680" y="3657600"/>
            <a:ext cx="5029200" cy="2331720"/>
          </a:xfrm>
          <a:prstGeom prst="roundRect">
            <a:avLst>
              <a:gd name="adj" fmla="val 4706"/>
            </a:avLst>
          </a:prstGeom>
          <a:solidFill>
            <a:srgbClr val="FDEEEF"/>
          </a:solidFill>
          <a:ln w="12700">
            <a:solidFill>
              <a:srgbClr val="FDEEEF"/>
            </a:solidFill>
            <a:prstDash val="solid"/>
          </a:ln>
        </p:spPr>
      </p:sp>
      <p:sp>
        <p:nvSpPr>
          <p:cNvPr id="10" name="Text 7"/>
          <p:cNvSpPr txBox="1"/>
          <p:nvPr/>
        </p:nvSpPr>
        <p:spPr>
          <a:xfrm>
            <a:off x="6858000" y="3840480"/>
            <a:ext cx="4480560" cy="365760"/>
          </a:xfrm>
          <a:prstGeom prst="rect">
            <a:avLst/>
          </a:prstGeom>
          <a:noFill/>
          <a:ln/>
        </p:spPr>
        <p:txBody>
          <a:bodyPr wrap="square" lIns="0" tIns="0" rIns="0" bIns="0" rtlCol="0" anchor="ctr"/>
          <a:lstStyle/>
          <a:p>
            <a:pPr indent="0" marL="0">
              <a:buNone/>
            </a:pPr>
            <a:r>
              <a:rPr lang="en-US" sz="1600" b="1" dirty="0">
                <a:solidFill>
                  <a:srgbClr val="F96167"/>
                </a:solidFill>
                <a:latin typeface="Cambria" pitchFamily="34" charset="0"/>
                <a:ea typeface="Cambria" pitchFamily="34" charset="-122"/>
                <a:cs typeface="Cambria" pitchFamily="34" charset="-120"/>
              </a:rPr>
              <a:t>Ce que cela représenterait</a:t>
            </a:r>
            <a:endParaRPr lang="en-US" sz="1600" dirty="0"/>
          </a:p>
        </p:txBody>
      </p:sp>
      <p:sp>
        <p:nvSpPr>
          <p:cNvPr id="11" name="Text 8"/>
          <p:cNvSpPr txBox="1"/>
          <p:nvPr/>
        </p:nvSpPr>
        <p:spPr>
          <a:xfrm>
            <a:off x="6858000" y="4251960"/>
            <a:ext cx="4480560" cy="594360"/>
          </a:xfrm>
          <a:prstGeom prst="rect">
            <a:avLst/>
          </a:prstGeom>
          <a:noFill/>
          <a:ln/>
        </p:spPr>
        <p:txBody>
          <a:bodyPr wrap="square" lIns="0" tIns="0" rIns="0" bIns="0" rtlCol="0" anchor="ctr"/>
          <a:lstStyle/>
          <a:p>
            <a:pPr indent="0" marL="0">
              <a:buNone/>
            </a:pPr>
            <a:r>
              <a:rPr lang="en-US" sz="3000" b="1" dirty="0">
                <a:solidFill>
                  <a:srgbClr val="F96167"/>
                </a:solidFill>
                <a:latin typeface="Cambria" pitchFamily="34" charset="0"/>
                <a:ea typeface="Cambria" pitchFamily="34" charset="-122"/>
                <a:cs typeface="Cambria" pitchFamily="34" charset="-120"/>
              </a:rPr>
              <a:t>≈ 245 / jour</a:t>
            </a:r>
            <a:endParaRPr lang="en-US" sz="3000" dirty="0"/>
          </a:p>
        </p:txBody>
      </p:sp>
      <p:sp>
        <p:nvSpPr>
          <p:cNvPr id="12" name="Text 9"/>
          <p:cNvSpPr txBox="1"/>
          <p:nvPr/>
        </p:nvSpPr>
        <p:spPr>
          <a:xfrm>
            <a:off x="6858000" y="4846320"/>
            <a:ext cx="4480560" cy="548640"/>
          </a:xfrm>
          <a:prstGeom prst="rect">
            <a:avLst/>
          </a:prstGeom>
          <a:noFill/>
          <a:ln/>
        </p:spPr>
        <p:txBody>
          <a:bodyPr wrap="square" lIns="0" tIns="0" rIns="0" bIns="0" rtlCol="0" anchor="ctr"/>
          <a:lstStyle/>
          <a:p>
            <a:pPr indent="0" marL="0">
              <a:buNone/>
            </a:pPr>
            <a:r>
              <a:rPr lang="en-US" sz="1300" dirty="0">
                <a:solidFill>
                  <a:srgbClr val="22262E"/>
                </a:solidFill>
                <a:latin typeface="Calibri" pitchFamily="34" charset="0"/>
                <a:ea typeface="Calibri" pitchFamily="34" charset="-122"/>
                <a:cs typeface="Calibri" pitchFamily="34" charset="-120"/>
              </a:rPr>
              <a:t>réclamations à reprendre à la main en phase pilote, et près de 9 800 par jour en déploiement global.</a:t>
            </a:r>
            <a:endParaRPr lang="en-US" sz="1300" dirty="0"/>
          </a:p>
        </p:txBody>
      </p:sp>
      <p:sp>
        <p:nvSpPr>
          <p:cNvPr id="13" name="Text 10"/>
          <p:cNvSpPr txBox="1"/>
          <p:nvPr/>
        </p:nvSpPr>
        <p:spPr>
          <a:xfrm>
            <a:off x="6858000" y="5394960"/>
            <a:ext cx="4480560" cy="457200"/>
          </a:xfrm>
          <a:prstGeom prst="rect">
            <a:avLst/>
          </a:prstGeom>
          <a:noFill/>
          <a:ln/>
        </p:spPr>
        <p:txBody>
          <a:bodyPr wrap="square" lIns="0" tIns="0" rIns="0" bIns="0" rtlCol="0" anchor="ctr"/>
          <a:lstStyle/>
          <a:p>
            <a:pPr indent="0" marL="0">
              <a:buNone/>
            </a:pPr>
            <a:r>
              <a:rPr lang="en-US" sz="1200" i="1" dirty="0">
                <a:solidFill>
                  <a:srgbClr val="22262E"/>
                </a:solidFill>
                <a:latin typeface="Calibri" pitchFamily="34" charset="0"/>
                <a:ea typeface="Calibri" pitchFamily="34" charset="-122"/>
                <a:cs typeface="Calibri" pitchFamily="34" charset="-120"/>
              </a:rPr>
              <a:t>Sans compétence IA en interne, ce type de régression est difficile à anticiper et à diagnostiquer.</a:t>
            </a:r>
            <a:endParaRPr lang="en-US" sz="1200" dirty="0"/>
          </a:p>
        </p:txBody>
      </p:sp>
      <p:sp>
        <p:nvSpPr>
          <p:cNvPr id="14" name="Text 11"/>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 reports/cout_maintenance_prompt.md — incident constaté en phase 3, mesuré sur 200 réclamations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Coût de mise en place et coût d'exploitation</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Deux postes à distinguer : le temps de travail initial, et la dépense récurrente</a:t>
            </a:r>
            <a:endParaRPr lang="en-US" sz="1500" dirty="0"/>
          </a:p>
        </p:txBody>
      </p:sp>
      <p:sp>
        <p:nvSpPr>
          <p:cNvPr id="4" name="Text 2"/>
          <p:cNvSpPr txBox="1"/>
          <p:nvPr/>
        </p:nvSpPr>
        <p:spPr>
          <a:xfrm>
            <a:off x="548640" y="1783080"/>
            <a:ext cx="53949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Coût de mise en place (estimation en jours-homme)</a:t>
            </a:r>
            <a:endParaRPr lang="en-US" sz="1600" dirty="0"/>
          </a:p>
        </p:txBody>
      </p:sp>
      <p:sp>
        <p:nvSpPr>
          <p:cNvPr id="5" name="Shape 3"/>
          <p:cNvSpPr/>
          <p:nvPr/>
        </p:nvSpPr>
        <p:spPr>
          <a:xfrm>
            <a:off x="548640" y="2212848"/>
            <a:ext cx="5394960" cy="777240"/>
          </a:xfrm>
          <a:prstGeom prst="roundRect">
            <a:avLst>
              <a:gd name="adj" fmla="val 14118"/>
            </a:avLst>
          </a:prstGeom>
          <a:solidFill>
            <a:srgbClr val="FDEEEF"/>
          </a:solidFill>
          <a:ln w="12700">
            <a:solidFill>
              <a:srgbClr val="FDEEEF"/>
            </a:solidFill>
            <a:prstDash val="solid"/>
          </a:ln>
        </p:spPr>
      </p:sp>
      <p:sp>
        <p:nvSpPr>
          <p:cNvPr id="6" name="Text 4"/>
          <p:cNvSpPr txBox="1"/>
          <p:nvPr/>
        </p:nvSpPr>
        <p:spPr>
          <a:xfrm>
            <a:off x="822960" y="2212848"/>
            <a:ext cx="1280160" cy="777240"/>
          </a:xfrm>
          <a:prstGeom prst="rect">
            <a:avLst/>
          </a:prstGeom>
          <a:noFill/>
          <a:ln/>
        </p:spPr>
        <p:txBody>
          <a:bodyPr wrap="square" lIns="0" tIns="0" rIns="0" bIns="0" rtlCol="0" anchor="ctr"/>
          <a:lstStyle/>
          <a:p>
            <a:pPr indent="0" marL="0">
              <a:buNone/>
            </a:pPr>
            <a:r>
              <a:rPr lang="en-US" sz="1400" b="1" dirty="0">
                <a:solidFill>
                  <a:srgbClr val="F96167"/>
                </a:solidFill>
                <a:latin typeface="Calibri" pitchFamily="34" charset="0"/>
                <a:ea typeface="Calibri" pitchFamily="34" charset="-122"/>
                <a:cs typeface="Calibri" pitchFamily="34" charset="-120"/>
              </a:rPr>
              <a:t>LLM</a:t>
            </a:r>
            <a:endParaRPr lang="en-US" sz="1400" dirty="0"/>
          </a:p>
        </p:txBody>
      </p:sp>
      <p:sp>
        <p:nvSpPr>
          <p:cNvPr id="7" name="Text 5"/>
          <p:cNvSpPr txBox="1"/>
          <p:nvPr/>
        </p:nvSpPr>
        <p:spPr>
          <a:xfrm>
            <a:off x="2103120" y="2212848"/>
            <a:ext cx="3657600" cy="77724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 1 jour — intégration de la consigne, bouton, gestion des erreurs du service externe</a:t>
            </a:r>
            <a:endParaRPr lang="en-US" sz="1200" dirty="0"/>
          </a:p>
        </p:txBody>
      </p:sp>
      <p:sp>
        <p:nvSpPr>
          <p:cNvPr id="8" name="Shape 6"/>
          <p:cNvSpPr/>
          <p:nvPr/>
        </p:nvSpPr>
        <p:spPr>
          <a:xfrm>
            <a:off x="548640" y="3063240"/>
            <a:ext cx="5394960" cy="777240"/>
          </a:xfrm>
          <a:prstGeom prst="roundRect">
            <a:avLst>
              <a:gd name="adj" fmla="val 14118"/>
            </a:avLst>
          </a:prstGeom>
          <a:solidFill>
            <a:srgbClr val="EAF3EF"/>
          </a:solidFill>
          <a:ln w="12700">
            <a:solidFill>
              <a:srgbClr val="EAF3EF"/>
            </a:solidFill>
            <a:prstDash val="solid"/>
          </a:ln>
        </p:spPr>
      </p:sp>
      <p:sp>
        <p:nvSpPr>
          <p:cNvPr id="9" name="Text 7"/>
          <p:cNvSpPr txBox="1"/>
          <p:nvPr/>
        </p:nvSpPr>
        <p:spPr>
          <a:xfrm>
            <a:off x="822960" y="3063240"/>
            <a:ext cx="1280160" cy="777240"/>
          </a:xfrm>
          <a:prstGeom prst="rect">
            <a:avLst/>
          </a:prstGeom>
          <a:noFill/>
          <a:ln/>
        </p:spPr>
        <p:txBody>
          <a:bodyPr wrap="square" lIns="0" tIns="0" rIns="0" bIns="0" rtlCol="0" anchor="ctr"/>
          <a:lstStyle/>
          <a:p>
            <a:pPr indent="0" marL="0">
              <a:buNone/>
            </a:pPr>
            <a:r>
              <a:rPr lang="en-US" sz="1400" b="1" dirty="0">
                <a:solidFill>
                  <a:srgbClr val="1F6F54"/>
                </a:solidFill>
                <a:latin typeface="Calibri" pitchFamily="34" charset="0"/>
                <a:ea typeface="Calibri" pitchFamily="34" charset="-122"/>
                <a:cs typeface="Calibri" pitchFamily="34" charset="-120"/>
              </a:rPr>
              <a:t>ML</a:t>
            </a:r>
            <a:endParaRPr lang="en-US" sz="1400" dirty="0"/>
          </a:p>
        </p:txBody>
      </p:sp>
      <p:sp>
        <p:nvSpPr>
          <p:cNvPr id="10" name="Text 8"/>
          <p:cNvSpPr txBox="1"/>
          <p:nvPr/>
        </p:nvSpPr>
        <p:spPr>
          <a:xfrm>
            <a:off x="2103120" y="3063240"/>
            <a:ext cx="3657600" cy="77724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 2 jours — entraînement automatisé, API de service, intégration à l'application</a:t>
            </a:r>
            <a:endParaRPr lang="en-US" sz="1200" dirty="0"/>
          </a:p>
        </p:txBody>
      </p:sp>
      <p:sp>
        <p:nvSpPr>
          <p:cNvPr id="11" name="Text 9"/>
          <p:cNvSpPr txBox="1"/>
          <p:nvPr/>
        </p:nvSpPr>
        <p:spPr>
          <a:xfrm>
            <a:off x="548640" y="3931920"/>
            <a:ext cx="5394960" cy="45720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Le ML demande environ une journée de plus au départ. Cet écart est payé une seule fois.</a:t>
            </a:r>
            <a:endParaRPr lang="en-US" sz="1200" dirty="0"/>
          </a:p>
        </p:txBody>
      </p:sp>
      <p:sp>
        <p:nvSpPr>
          <p:cNvPr id="12" name="Text 10"/>
          <p:cNvSpPr txBox="1"/>
          <p:nvPr/>
        </p:nvSpPr>
        <p:spPr>
          <a:xfrm>
            <a:off x="6217920" y="1783080"/>
            <a:ext cx="53949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Coût d'exploitation (dépense d'appels au service)</a:t>
            </a:r>
            <a:endParaRPr lang="en-US" sz="1600" dirty="0"/>
          </a:p>
        </p:txBody>
      </p:sp>
      <p:graphicFrame>
        <p:nvGraphicFramePr>
          <p:cNvPr id="13" name="Chart 0" descr=""/>
          <p:cNvGraphicFramePr/>
          <p:nvPr/>
        </p:nvGraphicFramePr>
        <p:xfrm>
          <a:off x="6080760" y="2194560"/>
          <a:ext cx="5623560" cy="187452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6080760" y="4160520"/>
            <a:ext cx="5532120" cy="411480"/>
          </a:xfrm>
          <a:prstGeom prst="roundRect">
            <a:avLst>
              <a:gd name="adj" fmla="val 26667"/>
            </a:avLst>
          </a:prstGeom>
          <a:solidFill>
            <a:srgbClr val="EAF3EF"/>
          </a:solidFill>
          <a:ln w="12700">
            <a:solidFill>
              <a:srgbClr val="EAF3EF"/>
            </a:solidFill>
            <a:prstDash val="solid"/>
          </a:ln>
        </p:spPr>
      </p:sp>
      <p:sp>
        <p:nvSpPr>
          <p:cNvPr id="15" name="Text 12"/>
          <p:cNvSpPr txBox="1"/>
          <p:nvPr/>
        </p:nvSpPr>
        <p:spPr>
          <a:xfrm>
            <a:off x="6309360" y="4160520"/>
            <a:ext cx="5074920" cy="41148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Machine learning : 0 $ dans les deux phases.</a:t>
            </a:r>
            <a:endParaRPr lang="en-US" sz="1200" dirty="0"/>
          </a:p>
        </p:txBody>
      </p:sp>
      <p:sp>
        <p:nvSpPr>
          <p:cNvPr id="16" name="Shape 13"/>
          <p:cNvSpPr/>
          <p:nvPr/>
        </p:nvSpPr>
        <p:spPr>
          <a:xfrm>
            <a:off x="548640" y="4709160"/>
            <a:ext cx="11064240" cy="1234440"/>
          </a:xfrm>
          <a:prstGeom prst="roundRect">
            <a:avLst>
              <a:gd name="adj" fmla="val 8889"/>
            </a:avLst>
          </a:prstGeom>
          <a:solidFill>
            <a:srgbClr val="F4F6FB"/>
          </a:solidFill>
          <a:ln w="12700">
            <a:solidFill>
              <a:srgbClr val="F4F6FB"/>
            </a:solidFill>
            <a:prstDash val="solid"/>
          </a:ln>
        </p:spPr>
      </p:sp>
      <p:sp>
        <p:nvSpPr>
          <p:cNvPr id="17" name="Text 14"/>
          <p:cNvSpPr txBox="1"/>
          <p:nvPr/>
        </p:nvSpPr>
        <p:spPr>
          <a:xfrm>
            <a:off x="868680" y="4892040"/>
            <a:ext cx="10424160" cy="9144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Base de calcul : 0,0516 $ mesuré pour 1 000 prédictions avec mistral-small, mise en cache comprise. Le coût du ML par prédiction est nul : la dépense est l'entraînement, fait une seule fois.</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La dépense LLM n'est pas élevée en valeur absolue, mais elle croît avec le nombre de clients, alors que celle du ML reste stable. Ce n'est pas l'argument principal en faveur du ML.</a:t>
            </a:r>
            <a:endParaRPr lang="en-US" sz="1200" dirty="0"/>
          </a:p>
        </p:txBody>
      </p:sp>
      <p:sp>
        <p:nvSpPr>
          <p:cNvPr id="18" name="Text 15"/>
          <p:cNvSpPr txBox="1"/>
          <p:nvPr/>
        </p:nvSpPr>
        <p:spPr>
          <a:xfrm>
            <a:off x="548640" y="6355080"/>
            <a:ext cx="1106424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 reports/etape2_synthese.md §7 — coût mesuré sur 2 000 appels, projection validée à 0,5 % près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Comment mettre chaque approche en production</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Ce que l'équipe devrait mettre en place, et maintenir ensuite</a:t>
            </a:r>
            <a:endParaRPr lang="en-US" sz="1500" dirty="0"/>
          </a:p>
        </p:txBody>
      </p:sp>
      <p:sp>
        <p:nvSpPr>
          <p:cNvPr id="4" name="Shape 2"/>
          <p:cNvSpPr/>
          <p:nvPr/>
        </p:nvSpPr>
        <p:spPr>
          <a:xfrm>
            <a:off x="548640" y="1874520"/>
            <a:ext cx="5486400" cy="4114800"/>
          </a:xfrm>
          <a:prstGeom prst="roundRect">
            <a:avLst>
              <a:gd name="adj" fmla="val 2667"/>
            </a:avLst>
          </a:prstGeom>
          <a:solidFill>
            <a:srgbClr val="FDEEEF"/>
          </a:solidFill>
          <a:ln w="12700">
            <a:solidFill>
              <a:srgbClr val="FDEEEF"/>
            </a:solidFill>
            <a:prstDash val="solid"/>
          </a:ln>
        </p:spPr>
      </p:sp>
      <p:sp>
        <p:nvSpPr>
          <p:cNvPr id="5" name="Text 3"/>
          <p:cNvSpPr txBox="1"/>
          <p:nvPr/>
        </p:nvSpPr>
        <p:spPr>
          <a:xfrm>
            <a:off x="822960" y="2057400"/>
            <a:ext cx="4937760" cy="365760"/>
          </a:xfrm>
          <a:prstGeom prst="rect">
            <a:avLst/>
          </a:prstGeom>
          <a:noFill/>
          <a:ln/>
        </p:spPr>
        <p:txBody>
          <a:bodyPr wrap="square" lIns="0" tIns="0" rIns="0" bIns="0" rtlCol="0" anchor="ctr"/>
          <a:lstStyle/>
          <a:p>
            <a:pPr indent="0" marL="0">
              <a:buNone/>
            </a:pPr>
            <a:r>
              <a:rPr lang="en-US" sz="1800" b="1" dirty="0">
                <a:solidFill>
                  <a:srgbClr val="F96167"/>
                </a:solidFill>
                <a:latin typeface="Cambria" pitchFamily="34" charset="0"/>
                <a:ea typeface="Cambria" pitchFamily="34" charset="-122"/>
                <a:cs typeface="Cambria" pitchFamily="34" charset="-120"/>
              </a:rPr>
              <a:t>Approche LLM</a:t>
            </a:r>
            <a:endParaRPr lang="en-US" sz="1800" dirty="0"/>
          </a:p>
        </p:txBody>
      </p:sp>
      <p:sp>
        <p:nvSpPr>
          <p:cNvPr id="6" name="Text 4"/>
          <p:cNvSpPr txBox="1"/>
          <p:nvPr/>
        </p:nvSpPr>
        <p:spPr>
          <a:xfrm>
            <a:off x="822960" y="2487168"/>
            <a:ext cx="49377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Mise en place</a:t>
            </a:r>
            <a:endParaRPr lang="en-US" sz="1300" dirty="0"/>
          </a:p>
        </p:txBody>
      </p:sp>
      <p:sp>
        <p:nvSpPr>
          <p:cNvPr id="7" name="Text 5"/>
          <p:cNvSpPr txBox="1"/>
          <p:nvPr/>
        </p:nvSpPr>
        <p:spPr>
          <a:xfrm>
            <a:off x="822960" y="2788920"/>
            <a:ext cx="4937760" cy="11430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Compte et clé d'accès chez le fournisseur</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Appel du service depuis le serveur, avec la consigne figée</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Traitement des erreurs réseau et des réponses mal formées</a:t>
            </a:r>
            <a:endParaRPr lang="en-US" sz="1200" dirty="0"/>
          </a:p>
        </p:txBody>
      </p:sp>
      <p:sp>
        <p:nvSpPr>
          <p:cNvPr id="8" name="Text 6"/>
          <p:cNvSpPr txBox="1"/>
          <p:nvPr/>
        </p:nvSpPr>
        <p:spPr>
          <a:xfrm>
            <a:off x="822960" y="3977640"/>
            <a:ext cx="49377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À maintenir ensuite</a:t>
            </a:r>
            <a:endParaRPr lang="en-US" sz="1300" dirty="0"/>
          </a:p>
        </p:txBody>
      </p:sp>
      <p:sp>
        <p:nvSpPr>
          <p:cNvPr id="9" name="Text 7"/>
          <p:cNvSpPr txBox="1"/>
          <p:nvPr/>
        </p:nvSpPr>
        <p:spPr>
          <a:xfrm>
            <a:off x="822960" y="4279392"/>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Surveiller en continu le taux de réponses exploitables</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Revérifier la qualité à chaque mise à jour du modèle par le fournisseur</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Suivre la dépense, qui croît avec le nombre de clients</a:t>
            </a:r>
            <a:endParaRPr lang="en-US" sz="1200" dirty="0"/>
          </a:p>
        </p:txBody>
      </p:sp>
      <p:sp>
        <p:nvSpPr>
          <p:cNvPr id="10" name="Shape 8"/>
          <p:cNvSpPr/>
          <p:nvPr/>
        </p:nvSpPr>
        <p:spPr>
          <a:xfrm>
            <a:off x="6144768" y="1874520"/>
            <a:ext cx="5486400" cy="4114800"/>
          </a:xfrm>
          <a:prstGeom prst="roundRect">
            <a:avLst>
              <a:gd name="adj" fmla="val 2667"/>
            </a:avLst>
          </a:prstGeom>
          <a:solidFill>
            <a:srgbClr val="EAF3EF"/>
          </a:solidFill>
          <a:ln w="12700">
            <a:solidFill>
              <a:srgbClr val="EAF3EF"/>
            </a:solidFill>
            <a:prstDash val="solid"/>
          </a:ln>
        </p:spPr>
      </p:sp>
      <p:sp>
        <p:nvSpPr>
          <p:cNvPr id="11" name="Text 9"/>
          <p:cNvSpPr txBox="1"/>
          <p:nvPr/>
        </p:nvSpPr>
        <p:spPr>
          <a:xfrm>
            <a:off x="6419088" y="2057400"/>
            <a:ext cx="4937760" cy="365760"/>
          </a:xfrm>
          <a:prstGeom prst="rect">
            <a:avLst/>
          </a:prstGeom>
          <a:noFill/>
          <a:ln/>
        </p:spPr>
        <p:txBody>
          <a:bodyPr wrap="square" lIns="0" tIns="0" rIns="0" bIns="0" rtlCol="0" anchor="ctr"/>
          <a:lstStyle/>
          <a:p>
            <a:pPr indent="0" marL="0">
              <a:buNone/>
            </a:pPr>
            <a:r>
              <a:rPr lang="en-US" sz="1800" b="1" dirty="0">
                <a:solidFill>
                  <a:srgbClr val="1F6F54"/>
                </a:solidFill>
                <a:latin typeface="Cambria" pitchFamily="34" charset="0"/>
                <a:ea typeface="Cambria" pitchFamily="34" charset="-122"/>
                <a:cs typeface="Cambria" pitchFamily="34" charset="-120"/>
              </a:rPr>
              <a:t>Approche machine learning</a:t>
            </a:r>
            <a:endParaRPr lang="en-US" sz="1800" dirty="0"/>
          </a:p>
        </p:txBody>
      </p:sp>
      <p:sp>
        <p:nvSpPr>
          <p:cNvPr id="12" name="Text 10"/>
          <p:cNvSpPr txBox="1"/>
          <p:nvPr/>
        </p:nvSpPr>
        <p:spPr>
          <a:xfrm>
            <a:off x="6419088" y="2487168"/>
            <a:ext cx="49377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Mise en place</a:t>
            </a:r>
            <a:endParaRPr lang="en-US" sz="1300" dirty="0"/>
          </a:p>
        </p:txBody>
      </p:sp>
      <p:sp>
        <p:nvSpPr>
          <p:cNvPr id="13" name="Text 11"/>
          <p:cNvSpPr txBox="1"/>
          <p:nvPr/>
        </p:nvSpPr>
        <p:spPr>
          <a:xfrm>
            <a:off x="6419088" y="2788920"/>
            <a:ext cx="4937760" cy="11430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Entraînement et publication automatisés du modèle, avec contrôles de non-régression</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Service interne qui charge le modèle et expose une adresse d'appel</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Appel de ce service depuis l'application</a:t>
            </a:r>
            <a:endParaRPr lang="en-US" sz="1200" dirty="0"/>
          </a:p>
        </p:txBody>
      </p:sp>
      <p:sp>
        <p:nvSpPr>
          <p:cNvPr id="14" name="Text 12"/>
          <p:cNvSpPr txBox="1"/>
          <p:nvPr/>
        </p:nvSpPr>
        <p:spPr>
          <a:xfrm>
            <a:off x="6419088" y="3977640"/>
            <a:ext cx="4937760" cy="2743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À maintenir ensuite</a:t>
            </a:r>
            <a:endParaRPr lang="en-US" sz="1300" dirty="0"/>
          </a:p>
        </p:txBody>
      </p:sp>
      <p:sp>
        <p:nvSpPr>
          <p:cNvPr id="15" name="Text 13"/>
          <p:cNvSpPr txBox="1"/>
          <p:nvPr/>
        </p:nvSpPr>
        <p:spPr>
          <a:xfrm>
            <a:off x="6419088" y="4279392"/>
            <a:ext cx="4937760" cy="14630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Réentraîner périodiquement sur les réclamations récentes, quand le vocabulaire évolue</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Surveiller la qualité sur un échantillon vérifié par un agent</a:t>
            </a:r>
            <a:endParaRPr lang="en-US" sz="1200" dirty="0"/>
          </a:p>
          <a:p>
            <a:pPr marL="342900" indent="-342900">
              <a:spcAft>
                <a:spcPts val="800"/>
              </a:spcAft>
              <a:buSzPct val="100000"/>
              <a:buChar char="•"/>
            </a:pPr>
            <a:r>
              <a:rPr lang="en-US" sz="1200" dirty="0">
                <a:solidFill>
                  <a:srgbClr val="22262E"/>
                </a:solidFill>
                <a:latin typeface="Calibri" pitchFamily="34" charset="0"/>
                <a:ea typeface="Calibri" pitchFamily="34" charset="-122"/>
                <a:cs typeface="Calibri" pitchFamily="34" charset="-120"/>
              </a:rPr>
              <a:t>Aucune dépendance à un fournisseur externe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2296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Avantages et inconvénients de chaque approche</a:t>
            </a:r>
            <a:endParaRPr lang="en-US" sz="3600" dirty="0"/>
          </a:p>
        </p:txBody>
      </p:sp>
      <p:sp>
        <p:nvSpPr>
          <p:cNvPr id="3" name="Text 1"/>
          <p:cNvSpPr txBox="1"/>
          <p:nvPr/>
        </p:nvSpPr>
        <p:spPr>
          <a:xfrm>
            <a:off x="548640" y="1207008"/>
            <a:ext cx="11064240" cy="45720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Synthèse des mesures présentées</a:t>
            </a:r>
            <a:endParaRPr lang="en-US" sz="1500" dirty="0"/>
          </a:p>
        </p:txBody>
      </p:sp>
      <p:sp>
        <p:nvSpPr>
          <p:cNvPr id="4" name="Text 2"/>
          <p:cNvSpPr txBox="1"/>
          <p:nvPr/>
        </p:nvSpPr>
        <p:spPr>
          <a:xfrm>
            <a:off x="777240" y="1783080"/>
            <a:ext cx="3749040" cy="32004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Critère</a:t>
            </a:r>
            <a:endParaRPr lang="en-US" sz="1300" dirty="0"/>
          </a:p>
        </p:txBody>
      </p:sp>
      <p:sp>
        <p:nvSpPr>
          <p:cNvPr id="5" name="Text 3"/>
          <p:cNvSpPr txBox="1"/>
          <p:nvPr/>
        </p:nvSpPr>
        <p:spPr>
          <a:xfrm>
            <a:off x="4526280" y="1783080"/>
            <a:ext cx="3474720" cy="320040"/>
          </a:xfrm>
          <a:prstGeom prst="rect">
            <a:avLst/>
          </a:prstGeom>
          <a:noFill/>
          <a:ln/>
        </p:spPr>
        <p:txBody>
          <a:bodyPr wrap="square" lIns="0" tIns="0" rIns="0" bIns="0" rtlCol="0" anchor="ctr"/>
          <a:lstStyle/>
          <a:p>
            <a:pPr indent="0" marL="0">
              <a:buNone/>
            </a:pPr>
            <a:r>
              <a:rPr lang="en-US" sz="1300" b="1" dirty="0">
                <a:solidFill>
                  <a:srgbClr val="F96167"/>
                </a:solidFill>
                <a:latin typeface="Calibri" pitchFamily="34" charset="0"/>
                <a:ea typeface="Calibri" pitchFamily="34" charset="-122"/>
                <a:cs typeface="Calibri" pitchFamily="34" charset="-120"/>
              </a:rPr>
              <a:t>LLM</a:t>
            </a:r>
            <a:endParaRPr lang="en-US" sz="1300" dirty="0"/>
          </a:p>
        </p:txBody>
      </p:sp>
      <p:sp>
        <p:nvSpPr>
          <p:cNvPr id="6" name="Text 4"/>
          <p:cNvSpPr txBox="1"/>
          <p:nvPr/>
        </p:nvSpPr>
        <p:spPr>
          <a:xfrm>
            <a:off x="8183880" y="1783080"/>
            <a:ext cx="3429000" cy="320040"/>
          </a:xfrm>
          <a:prstGeom prst="rect">
            <a:avLst/>
          </a:prstGeom>
          <a:noFill/>
          <a:ln/>
        </p:spPr>
        <p:txBody>
          <a:bodyPr wrap="square" lIns="0" tIns="0" rIns="0" bIns="0" rtlCol="0" anchor="ctr"/>
          <a:lstStyle/>
          <a:p>
            <a:pPr indent="0" marL="0">
              <a:buNone/>
            </a:pPr>
            <a:r>
              <a:rPr lang="en-US" sz="1300" b="1" dirty="0">
                <a:solidFill>
                  <a:srgbClr val="1F6F54"/>
                </a:solidFill>
                <a:latin typeface="Calibri" pitchFamily="34" charset="0"/>
                <a:ea typeface="Calibri" pitchFamily="34" charset="-122"/>
                <a:cs typeface="Calibri" pitchFamily="34" charset="-120"/>
              </a:rPr>
              <a:t>Machine learning</a:t>
            </a:r>
            <a:endParaRPr lang="en-US" sz="1300" dirty="0"/>
          </a:p>
        </p:txBody>
      </p:sp>
      <p:sp>
        <p:nvSpPr>
          <p:cNvPr id="7" name="Shape 5"/>
          <p:cNvSpPr/>
          <p:nvPr/>
        </p:nvSpPr>
        <p:spPr>
          <a:xfrm>
            <a:off x="548640" y="2148840"/>
            <a:ext cx="11064240" cy="502920"/>
          </a:xfrm>
          <a:prstGeom prst="roundRect">
            <a:avLst>
              <a:gd name="adj" fmla="val 21818"/>
            </a:avLst>
          </a:prstGeom>
          <a:solidFill>
            <a:srgbClr val="F4F6FB"/>
          </a:solidFill>
          <a:ln w="12700">
            <a:solidFill>
              <a:srgbClr val="F4F6FB"/>
            </a:solidFill>
            <a:prstDash val="solid"/>
          </a:ln>
        </p:spPr>
      </p:sp>
      <p:sp>
        <p:nvSpPr>
          <p:cNvPr id="8" name="Text 6"/>
          <p:cNvSpPr txBox="1"/>
          <p:nvPr/>
        </p:nvSpPr>
        <p:spPr>
          <a:xfrm>
            <a:off x="777240" y="2148840"/>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Qualité de classification</a:t>
            </a:r>
            <a:endParaRPr lang="en-US" sz="1200" dirty="0"/>
          </a:p>
        </p:txBody>
      </p:sp>
      <p:sp>
        <p:nvSpPr>
          <p:cNvPr id="9" name="Text 7"/>
          <p:cNvSpPr txBox="1"/>
          <p:nvPr/>
        </p:nvSpPr>
        <p:spPr>
          <a:xfrm>
            <a:off x="4526280" y="2148840"/>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0,789</a:t>
            </a:r>
            <a:endParaRPr lang="en-US" sz="1200" dirty="0"/>
          </a:p>
        </p:txBody>
      </p:sp>
      <p:sp>
        <p:nvSpPr>
          <p:cNvPr id="10" name="Text 8"/>
          <p:cNvSpPr txBox="1"/>
          <p:nvPr/>
        </p:nvSpPr>
        <p:spPr>
          <a:xfrm>
            <a:off x="8183880" y="2148840"/>
            <a:ext cx="3246120" cy="50292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0,819 — meilleur sur 7 catégories sur 9</a:t>
            </a:r>
            <a:endParaRPr lang="en-US" sz="1200" dirty="0"/>
          </a:p>
        </p:txBody>
      </p:sp>
      <p:sp>
        <p:nvSpPr>
          <p:cNvPr id="11" name="Text 9"/>
          <p:cNvSpPr txBox="1"/>
          <p:nvPr/>
        </p:nvSpPr>
        <p:spPr>
          <a:xfrm>
            <a:off x="777240" y="2679192"/>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Catégories très rares</a:t>
            </a:r>
            <a:endParaRPr lang="en-US" sz="1200" dirty="0"/>
          </a:p>
        </p:txBody>
      </p:sp>
      <p:sp>
        <p:nvSpPr>
          <p:cNvPr id="12" name="Text 10"/>
          <p:cNvSpPr txBox="1"/>
          <p:nvPr/>
        </p:nvSpPr>
        <p:spPr>
          <a:xfrm>
            <a:off x="4526280" y="2679192"/>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Meilleur sur la plus rare des 9</a:t>
            </a:r>
            <a:endParaRPr lang="en-US" sz="1200" dirty="0"/>
          </a:p>
        </p:txBody>
      </p:sp>
      <p:sp>
        <p:nvSpPr>
          <p:cNvPr id="13" name="Text 11"/>
          <p:cNvSpPr txBox="1"/>
          <p:nvPr/>
        </p:nvSpPr>
        <p:spPr>
          <a:xfrm>
            <a:off x="8183880" y="2679192"/>
            <a:ext cx="32461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Moins bon sur cette seule catégorie</a:t>
            </a:r>
            <a:endParaRPr lang="en-US" sz="1200" dirty="0"/>
          </a:p>
        </p:txBody>
      </p:sp>
      <p:sp>
        <p:nvSpPr>
          <p:cNvPr id="14" name="Shape 12"/>
          <p:cNvSpPr/>
          <p:nvPr/>
        </p:nvSpPr>
        <p:spPr>
          <a:xfrm>
            <a:off x="548640" y="3209544"/>
            <a:ext cx="11064240" cy="502920"/>
          </a:xfrm>
          <a:prstGeom prst="roundRect">
            <a:avLst>
              <a:gd name="adj" fmla="val 21818"/>
            </a:avLst>
          </a:prstGeom>
          <a:solidFill>
            <a:srgbClr val="F4F6FB"/>
          </a:solidFill>
          <a:ln w="12700">
            <a:solidFill>
              <a:srgbClr val="F4F6FB"/>
            </a:solidFill>
            <a:prstDash val="solid"/>
          </a:ln>
        </p:spPr>
      </p:sp>
      <p:sp>
        <p:nvSpPr>
          <p:cNvPr id="15" name="Text 13"/>
          <p:cNvSpPr txBox="1"/>
          <p:nvPr/>
        </p:nvSpPr>
        <p:spPr>
          <a:xfrm>
            <a:off x="777240" y="3209544"/>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Temps de réponse perçu</a:t>
            </a:r>
            <a:endParaRPr lang="en-US" sz="1200" dirty="0"/>
          </a:p>
        </p:txBody>
      </p:sp>
      <p:sp>
        <p:nvSpPr>
          <p:cNvPr id="16" name="Text 14"/>
          <p:cNvSpPr txBox="1"/>
          <p:nvPr/>
        </p:nvSpPr>
        <p:spPr>
          <a:xfrm>
            <a:off x="4526280" y="3209544"/>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 1 seconde</a:t>
            </a:r>
            <a:endParaRPr lang="en-US" sz="1200" dirty="0"/>
          </a:p>
        </p:txBody>
      </p:sp>
      <p:sp>
        <p:nvSpPr>
          <p:cNvPr id="17" name="Text 15"/>
          <p:cNvSpPr txBox="1"/>
          <p:nvPr/>
        </p:nvSpPr>
        <p:spPr>
          <a:xfrm>
            <a:off x="8183880" y="3209544"/>
            <a:ext cx="3246120" cy="50292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 1 milliseconde</a:t>
            </a:r>
            <a:endParaRPr lang="en-US" sz="1200" dirty="0"/>
          </a:p>
        </p:txBody>
      </p:sp>
      <p:sp>
        <p:nvSpPr>
          <p:cNvPr id="18" name="Text 16"/>
          <p:cNvSpPr txBox="1"/>
          <p:nvPr/>
        </p:nvSpPr>
        <p:spPr>
          <a:xfrm>
            <a:off x="777240" y="3739896"/>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Réponses inexploitables</a:t>
            </a:r>
            <a:endParaRPr lang="en-US" sz="1200" dirty="0"/>
          </a:p>
        </p:txBody>
      </p:sp>
      <p:sp>
        <p:nvSpPr>
          <p:cNvPr id="19" name="Text 17"/>
          <p:cNvSpPr txBox="1"/>
          <p:nvPr/>
        </p:nvSpPr>
        <p:spPr>
          <a:xfrm>
            <a:off x="4526280" y="3739896"/>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Possibles — 19 cas sur 2 000</a:t>
            </a:r>
            <a:endParaRPr lang="en-US" sz="1200" dirty="0"/>
          </a:p>
        </p:txBody>
      </p:sp>
      <p:sp>
        <p:nvSpPr>
          <p:cNvPr id="20" name="Text 18"/>
          <p:cNvSpPr txBox="1"/>
          <p:nvPr/>
        </p:nvSpPr>
        <p:spPr>
          <a:xfrm>
            <a:off x="8183880" y="3739896"/>
            <a:ext cx="3246120" cy="50292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Impossibles par construction</a:t>
            </a:r>
            <a:endParaRPr lang="en-US" sz="1200" dirty="0"/>
          </a:p>
        </p:txBody>
      </p:sp>
      <p:sp>
        <p:nvSpPr>
          <p:cNvPr id="21" name="Shape 19"/>
          <p:cNvSpPr/>
          <p:nvPr/>
        </p:nvSpPr>
        <p:spPr>
          <a:xfrm>
            <a:off x="548640" y="4270248"/>
            <a:ext cx="11064240" cy="502920"/>
          </a:xfrm>
          <a:prstGeom prst="roundRect">
            <a:avLst>
              <a:gd name="adj" fmla="val 21818"/>
            </a:avLst>
          </a:prstGeom>
          <a:solidFill>
            <a:srgbClr val="F4F6FB"/>
          </a:solidFill>
          <a:ln w="12700">
            <a:solidFill>
              <a:srgbClr val="F4F6FB"/>
            </a:solidFill>
            <a:prstDash val="solid"/>
          </a:ln>
        </p:spPr>
      </p:sp>
      <p:sp>
        <p:nvSpPr>
          <p:cNvPr id="22" name="Text 20"/>
          <p:cNvSpPr txBox="1"/>
          <p:nvPr/>
        </p:nvSpPr>
        <p:spPr>
          <a:xfrm>
            <a:off x="777240" y="4270248"/>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Mise en route</a:t>
            </a:r>
            <a:endParaRPr lang="en-US" sz="1200" dirty="0"/>
          </a:p>
        </p:txBody>
      </p:sp>
      <p:sp>
        <p:nvSpPr>
          <p:cNvPr id="23" name="Text 21"/>
          <p:cNvSpPr txBox="1"/>
          <p:nvPr/>
        </p:nvSpPr>
        <p:spPr>
          <a:xfrm>
            <a:off x="4526280" y="4270248"/>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Aucun apprentissage requis</a:t>
            </a:r>
            <a:endParaRPr lang="en-US" sz="1200" dirty="0"/>
          </a:p>
        </p:txBody>
      </p:sp>
      <p:sp>
        <p:nvSpPr>
          <p:cNvPr id="24" name="Text 22"/>
          <p:cNvSpPr txBox="1"/>
          <p:nvPr/>
        </p:nvSpPr>
        <p:spPr>
          <a:xfrm>
            <a:off x="8183880" y="4270248"/>
            <a:ext cx="32461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Entraînement de 72 secondes</a:t>
            </a:r>
            <a:endParaRPr lang="en-US" sz="1200" dirty="0"/>
          </a:p>
        </p:txBody>
      </p:sp>
      <p:sp>
        <p:nvSpPr>
          <p:cNvPr id="25" name="Text 23"/>
          <p:cNvSpPr txBox="1"/>
          <p:nvPr/>
        </p:nvSpPr>
        <p:spPr>
          <a:xfrm>
            <a:off x="777240" y="4800600"/>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Coût annuel en déploiement global</a:t>
            </a:r>
            <a:endParaRPr lang="en-US" sz="1200" dirty="0"/>
          </a:p>
        </p:txBody>
      </p:sp>
      <p:sp>
        <p:nvSpPr>
          <p:cNvPr id="26" name="Text 24"/>
          <p:cNvSpPr txBox="1"/>
          <p:nvPr/>
        </p:nvSpPr>
        <p:spPr>
          <a:xfrm>
            <a:off x="4526280" y="4800600"/>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 753 $, croît avec les clients</a:t>
            </a:r>
            <a:endParaRPr lang="en-US" sz="1200" dirty="0"/>
          </a:p>
        </p:txBody>
      </p:sp>
      <p:sp>
        <p:nvSpPr>
          <p:cNvPr id="27" name="Text 25"/>
          <p:cNvSpPr txBox="1"/>
          <p:nvPr/>
        </p:nvSpPr>
        <p:spPr>
          <a:xfrm>
            <a:off x="8183880" y="4800600"/>
            <a:ext cx="3246120" cy="50292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0 $ par prédiction</a:t>
            </a:r>
            <a:endParaRPr lang="en-US" sz="1200" dirty="0"/>
          </a:p>
        </p:txBody>
      </p:sp>
      <p:sp>
        <p:nvSpPr>
          <p:cNvPr id="28" name="Shape 26"/>
          <p:cNvSpPr/>
          <p:nvPr/>
        </p:nvSpPr>
        <p:spPr>
          <a:xfrm>
            <a:off x="548640" y="5330952"/>
            <a:ext cx="11064240" cy="502920"/>
          </a:xfrm>
          <a:prstGeom prst="roundRect">
            <a:avLst>
              <a:gd name="adj" fmla="val 21818"/>
            </a:avLst>
          </a:prstGeom>
          <a:solidFill>
            <a:srgbClr val="F4F6FB"/>
          </a:solidFill>
          <a:ln w="12700">
            <a:solidFill>
              <a:srgbClr val="F4F6FB"/>
            </a:solidFill>
            <a:prstDash val="solid"/>
          </a:ln>
        </p:spPr>
      </p:sp>
      <p:sp>
        <p:nvSpPr>
          <p:cNvPr id="29" name="Text 27"/>
          <p:cNvSpPr txBox="1"/>
          <p:nvPr/>
        </p:nvSpPr>
        <p:spPr>
          <a:xfrm>
            <a:off x="777240" y="5330952"/>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Dépendance externe</a:t>
            </a:r>
            <a:endParaRPr lang="en-US" sz="1200" dirty="0"/>
          </a:p>
        </p:txBody>
      </p:sp>
      <p:sp>
        <p:nvSpPr>
          <p:cNvPr id="30" name="Text 28"/>
          <p:cNvSpPr txBox="1"/>
          <p:nvPr/>
        </p:nvSpPr>
        <p:spPr>
          <a:xfrm>
            <a:off x="4526280" y="5330952"/>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Fournisseur, tarifs, mises à jour</a:t>
            </a:r>
            <a:endParaRPr lang="en-US" sz="1200" dirty="0"/>
          </a:p>
        </p:txBody>
      </p:sp>
      <p:sp>
        <p:nvSpPr>
          <p:cNvPr id="31" name="Text 29"/>
          <p:cNvSpPr txBox="1"/>
          <p:nvPr/>
        </p:nvSpPr>
        <p:spPr>
          <a:xfrm>
            <a:off x="8183880" y="5330952"/>
            <a:ext cx="3246120" cy="50292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Aucune</a:t>
            </a:r>
            <a:endParaRPr lang="en-US" sz="1200" dirty="0"/>
          </a:p>
        </p:txBody>
      </p:sp>
      <p:sp>
        <p:nvSpPr>
          <p:cNvPr id="32" name="Text 30"/>
          <p:cNvSpPr txBox="1"/>
          <p:nvPr/>
        </p:nvSpPr>
        <p:spPr>
          <a:xfrm>
            <a:off x="777240" y="5861304"/>
            <a:ext cx="3657600" cy="502920"/>
          </a:xfrm>
          <a:prstGeom prst="rect">
            <a:avLst/>
          </a:prstGeom>
          <a:noFill/>
          <a:ln/>
        </p:spPr>
        <p:txBody>
          <a:bodyPr wrap="square" lIns="0" tIns="0" rIns="0" bIns="0" rtlCol="0" anchor="ctr"/>
          <a:lstStyle/>
          <a:p>
            <a:pPr indent="0" marL="0">
              <a:buNone/>
            </a:pPr>
            <a:r>
              <a:rPr lang="en-US" sz="1200" b="1" dirty="0">
                <a:solidFill>
                  <a:srgbClr val="22262E"/>
                </a:solidFill>
                <a:latin typeface="Calibri" pitchFamily="34" charset="0"/>
                <a:ea typeface="Calibri" pitchFamily="34" charset="-122"/>
                <a:cs typeface="Calibri" pitchFamily="34" charset="-120"/>
              </a:rPr>
              <a:t>Risque d'exploitation</a:t>
            </a:r>
            <a:endParaRPr lang="en-US" sz="1200" dirty="0"/>
          </a:p>
        </p:txBody>
      </p:sp>
      <p:sp>
        <p:nvSpPr>
          <p:cNvPr id="33" name="Text 31"/>
          <p:cNvSpPr txBox="1"/>
          <p:nvPr/>
        </p:nvSpPr>
        <p:spPr>
          <a:xfrm>
            <a:off x="4526280" y="5861304"/>
            <a:ext cx="3474720" cy="502920"/>
          </a:xfrm>
          <a:prstGeom prst="rect">
            <a:avLst/>
          </a:prstGeom>
          <a:noFill/>
          <a:ln/>
        </p:spPr>
        <p:txBody>
          <a:bodyPr wrap="square" lIns="0" tIns="0" rIns="0" bIns="0" rtlCol="0" anchor="ctr"/>
          <a:lstStyle/>
          <a:p>
            <a:pPr indent="0" marL="0">
              <a:buNone/>
            </a:pPr>
            <a:r>
              <a:rPr lang="en-US" sz="1200" dirty="0">
                <a:solidFill>
                  <a:srgbClr val="22262E"/>
                </a:solidFill>
                <a:latin typeface="Calibri" pitchFamily="34" charset="0"/>
                <a:ea typeface="Calibri" pitchFamily="34" charset="-122"/>
                <a:cs typeface="Calibri" pitchFamily="34" charset="-120"/>
              </a:rPr>
              <a:t>Régression possible sur simple retouche de consigne</a:t>
            </a:r>
            <a:endParaRPr lang="en-US" sz="1200" dirty="0"/>
          </a:p>
        </p:txBody>
      </p:sp>
      <p:sp>
        <p:nvSpPr>
          <p:cNvPr id="34" name="Text 32"/>
          <p:cNvSpPr txBox="1"/>
          <p:nvPr/>
        </p:nvSpPr>
        <p:spPr>
          <a:xfrm>
            <a:off x="8183880" y="5861304"/>
            <a:ext cx="3246120" cy="502920"/>
          </a:xfrm>
          <a:prstGeom prst="rect">
            <a:avLst/>
          </a:prstGeom>
          <a:noFill/>
          <a:ln/>
        </p:spPr>
        <p:txBody>
          <a:bodyPr wrap="square" lIns="0" tIns="0" rIns="0" bIns="0" rtlCol="0" anchor="ctr"/>
          <a:lstStyle/>
          <a:p>
            <a:pPr indent="0" marL="0">
              <a:buNone/>
            </a:pPr>
            <a:r>
              <a:rPr lang="en-US" sz="1200" b="1" dirty="0">
                <a:solidFill>
                  <a:srgbClr val="1F6F54"/>
                </a:solidFill>
                <a:latin typeface="Calibri" pitchFamily="34" charset="0"/>
                <a:ea typeface="Calibri" pitchFamily="34" charset="-122"/>
                <a:cs typeface="Calibri" pitchFamily="34" charset="-120"/>
              </a:rPr>
              <a:t>Comportement figé et reproductible</a:t>
            </a:r>
            <a:endParaRPr lang="en-US" sz="1200" dirty="0"/>
          </a:p>
        </p:txBody>
      </p:sp>
      <p:sp>
        <p:nvSpPr>
          <p:cNvPr id="35" name="Text 33"/>
          <p:cNvSpPr txBox="1"/>
          <p:nvPr/>
        </p:nvSpPr>
        <p:spPr>
          <a:xfrm>
            <a:off x="777240" y="6309360"/>
            <a:ext cx="10789920" cy="365760"/>
          </a:xfrm>
          <a:prstGeom prst="rect">
            <a:avLst/>
          </a:prstGeom>
          <a:noFill/>
          <a:ln/>
        </p:spPr>
        <p:txBody>
          <a:bodyPr wrap="square" lIns="0" tIns="0" rIns="0" bIns="0" rtlCol="0" anchor="ctr"/>
          <a:lstStyle/>
          <a:p>
            <a:pPr indent="0" marL="0">
              <a:buNone/>
            </a:pPr>
            <a:r>
              <a:rPr lang="en-US" sz="1200" i="1" dirty="0">
                <a:solidFill>
                  <a:srgbClr val="1E2761"/>
                </a:solidFill>
                <a:latin typeface="Calibri" pitchFamily="34" charset="0"/>
                <a:ea typeface="Calibri" pitchFamily="34" charset="-122"/>
                <a:cs typeface="Calibri" pitchFamily="34" charset="-120"/>
              </a:rPr>
              <a:t>Le machine learning l'emporte sur 6 des 8 critères, dont les quatre qui pèsent le plus pour ZenAssist : qualité, temps de réponse, fiabilité du format et charge d'exploitation.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881360" y="-1737360"/>
            <a:ext cx="3108960" cy="3108960"/>
          </a:xfrm>
          <a:prstGeom prst="ellipse">
            <a:avLst/>
          </a:prstGeom>
          <a:solidFill>
            <a:srgbClr val="2A3575"/>
          </a:solidFill>
          <a:ln w="12700">
            <a:solidFill>
              <a:srgbClr val="2A3575"/>
            </a:solidFill>
            <a:prstDash val="solid"/>
          </a:ln>
        </p:spPr>
      </p:sp>
      <p:sp>
        <p:nvSpPr>
          <p:cNvPr id="3" name="Text 1"/>
          <p:cNvSpPr txBox="1"/>
          <p:nvPr/>
        </p:nvSpPr>
        <p:spPr>
          <a:xfrm>
            <a:off x="731520" y="640080"/>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Recommandation</a:t>
            </a:r>
            <a:endParaRPr lang="en-US" sz="3800" dirty="0"/>
          </a:p>
        </p:txBody>
      </p:sp>
      <p:sp>
        <p:nvSpPr>
          <p:cNvPr id="4" name="Text 2"/>
          <p:cNvSpPr txBox="1"/>
          <p:nvPr/>
        </p:nvSpPr>
        <p:spPr>
          <a:xfrm>
            <a:off x="731520" y="1417320"/>
            <a:ext cx="10058400" cy="502920"/>
          </a:xfrm>
          <a:prstGeom prst="rect">
            <a:avLst/>
          </a:prstGeom>
          <a:noFill/>
          <a:ln/>
        </p:spPr>
        <p:txBody>
          <a:bodyPr wrap="square" lIns="0" tIns="0" rIns="0" bIns="0" rtlCol="0" anchor="ctr"/>
          <a:lstStyle/>
          <a:p>
            <a:pPr indent="0" marL="0">
              <a:buNone/>
            </a:pPr>
            <a:r>
              <a:rPr lang="en-US" sz="2000" b="1" dirty="0">
                <a:solidFill>
                  <a:srgbClr val="F96167"/>
                </a:solidFill>
                <a:latin typeface="Calibri" pitchFamily="34" charset="0"/>
                <a:ea typeface="Calibri" pitchFamily="34" charset="-122"/>
                <a:cs typeface="Calibri" pitchFamily="34" charset="-120"/>
              </a:rPr>
              <a:t>Déployer l'approche machine learning : TF-IDF + LinearSVC</a:t>
            </a:r>
            <a:endParaRPr lang="en-US" sz="2000" dirty="0"/>
          </a:p>
        </p:txBody>
      </p:sp>
      <p:sp>
        <p:nvSpPr>
          <p:cNvPr id="5" name="Shape 3"/>
          <p:cNvSpPr/>
          <p:nvPr/>
        </p:nvSpPr>
        <p:spPr>
          <a:xfrm>
            <a:off x="731520" y="2194560"/>
            <a:ext cx="384048" cy="384048"/>
          </a:xfrm>
          <a:prstGeom prst="ellipse">
            <a:avLst/>
          </a:prstGeom>
          <a:solidFill>
            <a:srgbClr val="F96167"/>
          </a:solidFill>
          <a:ln w="12700">
            <a:solidFill>
              <a:srgbClr val="F96167"/>
            </a:solidFill>
            <a:prstDash val="solid"/>
          </a:ln>
        </p:spPr>
      </p:sp>
      <p:sp>
        <p:nvSpPr>
          <p:cNvPr id="6" name="Text 4"/>
          <p:cNvSpPr txBox="1"/>
          <p:nvPr/>
        </p:nvSpPr>
        <p:spPr>
          <a:xfrm>
            <a:off x="731520" y="2194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25880" y="2130552"/>
            <a:ext cx="278892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Elle classe mieux</a:t>
            </a:r>
            <a:endParaRPr lang="en-US" sz="1500" dirty="0"/>
          </a:p>
        </p:txBody>
      </p:sp>
      <p:sp>
        <p:nvSpPr>
          <p:cNvPr id="8" name="Text 6"/>
          <p:cNvSpPr txBox="1"/>
          <p:nvPr/>
        </p:nvSpPr>
        <p:spPr>
          <a:xfrm>
            <a:off x="4206240" y="2130552"/>
            <a:ext cx="713232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+3,03 points de F1-macro face au LLM, sur les mêmes réclamations, avec un écart statistiquement établi (p = 2,6 × 10⁻⁸).</a:t>
            </a:r>
            <a:endParaRPr lang="en-US" sz="1250" dirty="0"/>
          </a:p>
        </p:txBody>
      </p:sp>
      <p:sp>
        <p:nvSpPr>
          <p:cNvPr id="9" name="Shape 7"/>
          <p:cNvSpPr/>
          <p:nvPr/>
        </p:nvSpPr>
        <p:spPr>
          <a:xfrm>
            <a:off x="731520" y="3108960"/>
            <a:ext cx="384048" cy="384048"/>
          </a:xfrm>
          <a:prstGeom prst="ellipse">
            <a:avLst/>
          </a:prstGeom>
          <a:solidFill>
            <a:srgbClr val="F96167"/>
          </a:solidFill>
          <a:ln w="12700">
            <a:solidFill>
              <a:srgbClr val="F96167"/>
            </a:solidFill>
            <a:prstDash val="solid"/>
          </a:ln>
        </p:spPr>
      </p:sp>
      <p:sp>
        <p:nvSpPr>
          <p:cNvPr id="10" name="Text 8"/>
          <p:cNvSpPr txBox="1"/>
          <p:nvPr/>
        </p:nvSpPr>
        <p:spPr>
          <a:xfrm>
            <a:off x="73152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325880" y="3044952"/>
            <a:ext cx="278892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Elle répond instantanément</a:t>
            </a:r>
            <a:endParaRPr lang="en-US" sz="1500" dirty="0"/>
          </a:p>
        </p:txBody>
      </p:sp>
      <p:sp>
        <p:nvSpPr>
          <p:cNvPr id="12" name="Text 10"/>
          <p:cNvSpPr txBox="1"/>
          <p:nvPr/>
        </p:nvSpPr>
        <p:spPr>
          <a:xfrm>
            <a:off x="4206240" y="3044952"/>
            <a:ext cx="713232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0,93 ms mesurés sur l'API en service, contre environ 1 seconde perçue côté LLM : l'agent ne subit aucune attente, 200 fois par jour.</a:t>
            </a:r>
            <a:endParaRPr lang="en-US" sz="1250" dirty="0"/>
          </a:p>
        </p:txBody>
      </p:sp>
      <p:sp>
        <p:nvSpPr>
          <p:cNvPr id="13" name="Shape 11"/>
          <p:cNvSpPr/>
          <p:nvPr/>
        </p:nvSpPr>
        <p:spPr>
          <a:xfrm>
            <a:off x="731520" y="4023360"/>
            <a:ext cx="384048" cy="384048"/>
          </a:xfrm>
          <a:prstGeom prst="ellipse">
            <a:avLst/>
          </a:prstGeom>
          <a:solidFill>
            <a:srgbClr val="F96167"/>
          </a:solidFill>
          <a:ln w="12700">
            <a:solidFill>
              <a:srgbClr val="F96167"/>
            </a:solidFill>
            <a:prstDash val="solid"/>
          </a:ln>
        </p:spPr>
      </p:sp>
      <p:sp>
        <p:nvSpPr>
          <p:cNvPr id="14" name="Text 12"/>
          <p:cNvSpPr txBox="1"/>
          <p:nvPr/>
        </p:nvSpPr>
        <p:spPr>
          <a:xfrm>
            <a:off x="73152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325880" y="3959352"/>
            <a:ext cx="278892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Elle ne peut pas déraper</a:t>
            </a:r>
            <a:endParaRPr lang="en-US" sz="1500" dirty="0"/>
          </a:p>
        </p:txBody>
      </p:sp>
      <p:sp>
        <p:nvSpPr>
          <p:cNvPr id="16" name="Text 14"/>
          <p:cNvSpPr txBox="1"/>
          <p:nvPr/>
        </p:nvSpPr>
        <p:spPr>
          <a:xfrm>
            <a:off x="4206240" y="3959352"/>
            <a:ext cx="713232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Elle rend toujours une catégorie du référentiel. Une retouche de consigne a fait chuter la fiabilité du LLM de 24 points — sans compétence IA en interne, ce risque est difficile à tenir.</a:t>
            </a:r>
            <a:endParaRPr lang="en-US" sz="1250" dirty="0"/>
          </a:p>
        </p:txBody>
      </p:sp>
      <p:sp>
        <p:nvSpPr>
          <p:cNvPr id="17" name="Shape 15"/>
          <p:cNvSpPr/>
          <p:nvPr/>
        </p:nvSpPr>
        <p:spPr>
          <a:xfrm>
            <a:off x="731520" y="4937760"/>
            <a:ext cx="384048" cy="384048"/>
          </a:xfrm>
          <a:prstGeom prst="ellipse">
            <a:avLst/>
          </a:prstGeom>
          <a:solidFill>
            <a:srgbClr val="F96167"/>
          </a:solidFill>
          <a:ln w="12700">
            <a:solidFill>
              <a:srgbClr val="F96167"/>
            </a:solidFill>
            <a:prstDash val="solid"/>
          </a:ln>
        </p:spPr>
      </p:sp>
      <p:sp>
        <p:nvSpPr>
          <p:cNvPr id="18" name="Text 16"/>
          <p:cNvSpPr txBox="1"/>
          <p:nvPr/>
        </p:nvSpPr>
        <p:spPr>
          <a:xfrm>
            <a:off x="731520" y="4937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325880" y="4873752"/>
            <a:ext cx="278892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Un coût qui ne suit pas la croissance</a:t>
            </a:r>
            <a:endParaRPr lang="en-US" sz="1500" dirty="0"/>
          </a:p>
        </p:txBody>
      </p:sp>
      <p:sp>
        <p:nvSpPr>
          <p:cNvPr id="20" name="Text 18"/>
          <p:cNvSpPr txBox="1"/>
          <p:nvPr/>
        </p:nvSpPr>
        <p:spPr>
          <a:xfrm>
            <a:off x="4206240" y="4873752"/>
            <a:ext cx="7132320" cy="7772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Aucune dépense par prédiction, quel que soit le nombre de clients, contre environ 753 $ par an en déploiement global côté LLM.</a:t>
            </a:r>
            <a:endParaRPr lang="en-US" sz="1250" dirty="0"/>
          </a:p>
        </p:txBody>
      </p:sp>
      <p:sp>
        <p:nvSpPr>
          <p:cNvPr id="21" name="Shape 19"/>
          <p:cNvSpPr/>
          <p:nvPr/>
        </p:nvSpPr>
        <p:spPr>
          <a:xfrm>
            <a:off x="731520" y="5806440"/>
            <a:ext cx="10881360" cy="685800"/>
          </a:xfrm>
          <a:prstGeom prst="roundRect">
            <a:avLst>
              <a:gd name="adj" fmla="val 13333"/>
            </a:avLst>
          </a:prstGeom>
          <a:solidFill>
            <a:srgbClr val="2A3575"/>
          </a:solidFill>
          <a:ln w="12700">
            <a:solidFill>
              <a:srgbClr val="2A3575"/>
            </a:solidFill>
            <a:prstDash val="solid"/>
          </a:ln>
        </p:spPr>
      </p:sp>
      <p:sp>
        <p:nvSpPr>
          <p:cNvPr id="22" name="Text 20"/>
          <p:cNvSpPr txBox="1"/>
          <p:nvPr/>
        </p:nvSpPr>
        <p:spPr>
          <a:xfrm>
            <a:off x="1005840" y="5806440"/>
            <a:ext cx="10332720" cy="685800"/>
          </a:xfrm>
          <a:prstGeom prst="rect">
            <a:avLst/>
          </a:prstGeom>
          <a:noFill/>
          <a:ln/>
        </p:spPr>
        <p:txBody>
          <a:bodyPr wrap="square" lIns="0" tIns="0" rIns="0" bIns="0"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Réserve assumée : le LLM reste meilleur sur la catégorie la plus rare du corpus (Vehicle loan or lease, 1,6 % des réclamations). Un suivi de cette catégorie est recommandé pendant le pilote.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2026-09-24T07:39:04Z</dcterms:created>
  <dcterms:modified xsi:type="dcterms:W3CDTF">2026-09-24T07:39:04Z</dcterms:modified>
</cp:coreProperties>
</file>